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3"/>
  </p:sldMasterIdLst>
  <p:notesMasterIdLst>
    <p:notesMasterId r:id="rId16"/>
  </p:notesMasterIdLst>
  <p:handoutMasterIdLst>
    <p:handoutMasterId r:id="rId17"/>
  </p:handoutMasterIdLst>
  <p:sldIdLst>
    <p:sldId id="258" r:id="rId4"/>
    <p:sldId id="322" r:id="rId5"/>
    <p:sldId id="323" r:id="rId6"/>
    <p:sldId id="329" r:id="rId7"/>
    <p:sldId id="266" r:id="rId8"/>
    <p:sldId id="330" r:id="rId9"/>
    <p:sldId id="331" r:id="rId10"/>
    <p:sldId id="280" r:id="rId11"/>
    <p:sldId id="333" r:id="rId12"/>
    <p:sldId id="334" r:id="rId13"/>
    <p:sldId id="336" r:id="rId14"/>
    <p:sldId id="33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706" autoAdjust="0"/>
    <p:restoredTop sz="95833"/>
  </p:normalViewPr>
  <p:slideViewPr>
    <p:cSldViewPr snapToGrid="0" snapToObjects="1">
      <p:cViewPr varScale="1">
        <p:scale>
          <a:sx n="72" d="100"/>
          <a:sy n="72" d="100"/>
        </p:scale>
        <p:origin x="-468" y="-96"/>
      </p:cViewPr>
      <p:guideLst>
        <p:guide orient="horz" pos="2207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handoutMaster" Target="handoutMasters/handoutMaster1.xml"/><Relationship Id="rId16" Type="http://schemas.openxmlformats.org/officeDocument/2006/relationships/notesMaster" Target="notesMasters/notes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FIFO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Completed</c:v>
                </c:pt>
                <c:pt idx="1">
                  <c:v>Unresolved</c:v>
                </c:pt>
                <c:pt idx="2">
                  <c:v>Rejected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7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Greedy</c:v>
                </c:pt>
              </c:strCache>
            </c:strRef>
          </c:tx>
          <c:spPr>
            <a:solidFill>
              <a:srgbClr val="0070C0"/>
            </a:solidFill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Completed</c:v>
                </c:pt>
                <c:pt idx="1">
                  <c:v>Unresolved</c:v>
                </c:pt>
                <c:pt idx="2">
                  <c:v>Rejected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</c:v>
                </c:pt>
                <c:pt idx="1">
                  <c:v>5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Deadlock-aware</c:v>
                </c:pt>
              </c:strCache>
            </c:strRef>
          </c:tx>
          <c:spPr>
            <a:solidFill>
              <a:srgbClr val="0070C0"/>
            </a:solidFill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Completed</c:v>
                </c:pt>
                <c:pt idx="1">
                  <c:v>Unresolved</c:v>
                </c:pt>
                <c:pt idx="2">
                  <c:v>Rejected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</c:v>
                </c:pt>
                <c:pt idx="1">
                  <c:v>0</c:v>
                </c:pt>
                <c:pt idx="2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300" b="0" i="0" u="none" strike="noStrike" kern="1200" baseline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"/>
          <c:min val="0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chemeClr val="tx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en-US" sz="1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0"/>
    <c:dispBlanksAs val="gap"/>
    <c:showDLblsOverMax val="0"/>
  </c:chart>
  <c:txPr>
    <a:bodyPr/>
    <a:lstStyle/>
    <a:p>
      <a:pPr>
        <a:defRPr lang="en-US" sz="1800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image" Target="../media/image1.jpe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  <a:endParaRPr lang="en-GB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  <a:endParaRPr lang="en-GB"/>
          </a:p>
          <a:p>
            <a:pPr lvl="1"/>
            <a:r>
              <a:rPr lang="en-GB"/>
              <a:t>Second level</a:t>
            </a:r>
            <a:endParaRPr lang="en-GB"/>
          </a:p>
          <a:p>
            <a:pPr lvl="2"/>
            <a:r>
              <a:rPr lang="en-GB"/>
              <a:t>Third level</a:t>
            </a:r>
            <a:endParaRPr lang="en-GB"/>
          </a:p>
          <a:p>
            <a:pPr lvl="3"/>
            <a:r>
              <a:rPr lang="en-GB"/>
              <a:t>Fourth level</a:t>
            </a:r>
            <a:endParaRPr lang="en-GB"/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21-09-2026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1</a:t>
            </a: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85800" y="228600"/>
            <a:ext cx="1081735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00000"/>
                </a:solidFill>
                <a:latin typeface="Calibri" panose="020F0502020204030204"/>
              </a:rPr>
              <a:t>REVIEW-II</a:t>
            </a:r>
            <a:endParaRPr sz="26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941832"/>
            <a:ext cx="10177272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070C0"/>
                </a:solidFill>
                <a:latin typeface="Calibri" panose="020F0502020204030204"/>
              </a:rPr>
              <a:t>NestedTune Guard: Deadlock-Aware Distributed Hyperparameter Tuning for Nested Trainers</a:t>
            </a:r>
            <a:endParaRPr sz="2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29000" y="2176272"/>
            <a:ext cx="533095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Project ID: CINT-11  |  Batch: [Batch]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03120" y="5166360"/>
            <a:ext cx="7982712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C00000"/>
                </a:solidFill>
                <a:latin typeface="Calibri" panose="020F0502020204030204"/>
              </a:rPr>
              <a:t>KONERU LAKSHMAIAH EDUCATION FOUNDATION</a:t>
            </a:r>
            <a:endParaRPr sz="2000" b="1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65175" y="3090672"/>
            <a:ext cx="6537960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A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1705" y="3090672"/>
            <a:ext cx="64008" cy="193852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713" y="2751963"/>
            <a:ext cx="6172200" cy="32004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900" b="1">
                <a:solidFill>
                  <a:srgbClr val="0070C0"/>
                </a:solidFill>
                <a:latin typeface="Calibri" panose="020F0502020204030204"/>
              </a:rPr>
              <a:t>TEAM MEMBERS</a:t>
            </a:r>
            <a:endParaRPr sz="19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42797" y="3273552"/>
            <a:ext cx="1389888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 panose="020F0502020204030204"/>
              </a:rPr>
              <a:t>2300030455</a:t>
            </a:r>
            <a:endParaRPr sz="16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542032" y="3273552"/>
            <a:ext cx="3840480" cy="292608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Calibri" panose="020F0502020204030204"/>
              </a:rPr>
              <a:t>NEKKANTI SAI VIGHNESH</a:t>
            </a:r>
            <a:endParaRPr sz="17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98464" y="3273552"/>
            <a:ext cx="896112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r"/>
            <a:r>
              <a:rPr sz="1400" b="1">
                <a:solidFill>
                  <a:srgbClr val="00B050"/>
                </a:solidFill>
                <a:latin typeface="Calibri" panose="020F0502020204030204"/>
              </a:rPr>
              <a:t>Member</a:t>
            </a:r>
            <a:endParaRPr sz="14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78992" y="3749039"/>
            <a:ext cx="1389888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 panose="020F0502020204030204"/>
              </a:rPr>
              <a:t>2300030062</a:t>
            </a:r>
            <a:endParaRPr sz="16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542032" y="3749039"/>
            <a:ext cx="3840480" cy="292608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Calibri" panose="020F0502020204030204"/>
              </a:rPr>
              <a:t>BAGADI PAVAN KUMAR</a:t>
            </a:r>
            <a:endParaRPr sz="17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78992" y="4224528"/>
            <a:ext cx="1389888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 panose="020F0502020204030204"/>
              </a:rPr>
              <a:t>2300030983</a:t>
            </a:r>
            <a:endParaRPr sz="16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542032" y="4224528"/>
            <a:ext cx="3840480" cy="292608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Calibri" panose="020F0502020204030204"/>
              </a:rPr>
              <a:t>BHIMISETTY MAHESH ADITHYA</a:t>
            </a:r>
            <a:endParaRPr sz="17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662672" y="2816352"/>
            <a:ext cx="3639312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FA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36662" y="2816352"/>
            <a:ext cx="64008" cy="193852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944368"/>
            <a:ext cx="3273552" cy="32004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900" b="1">
                <a:solidFill>
                  <a:srgbClr val="00B050"/>
                </a:solidFill>
                <a:latin typeface="Calibri" panose="020F0502020204030204"/>
              </a:rPr>
              <a:t>PROJECT GUIDE</a:t>
            </a:r>
            <a:endParaRPr sz="19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909560" y="3346704"/>
            <a:ext cx="841248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500" b="1">
                <a:solidFill>
                  <a:srgbClr val="5F5F5F"/>
                </a:solidFill>
                <a:latin typeface="Calibri" panose="020F0502020204030204"/>
              </a:rPr>
              <a:t>Guide ID</a:t>
            </a:r>
            <a:endParaRPr sz="1500" b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842248" y="3346704"/>
            <a:ext cx="1938528" cy="315595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lang="en-IN" sz="1700" b="1">
                <a:solidFill>
                  <a:srgbClr val="000000"/>
                </a:solidFill>
                <a:latin typeface="Calibri" panose="020F0502020204030204"/>
              </a:rPr>
              <a:t>8199</a:t>
            </a:r>
            <a:endParaRPr lang="en-IN" sz="17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909560" y="3803904"/>
            <a:ext cx="841248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500" b="1">
                <a:solidFill>
                  <a:srgbClr val="5F5F5F"/>
                </a:solidFill>
                <a:latin typeface="Calibri" panose="020F0502020204030204"/>
              </a:rPr>
              <a:t>Guide</a:t>
            </a:r>
            <a:endParaRPr sz="1500" b="1">
              <a:solidFill>
                <a:srgbClr val="5F5F5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842248" y="3730752"/>
            <a:ext cx="2139696" cy="577215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Calibri" panose="020F0502020204030204"/>
              </a:rPr>
              <a:t>Mr.Rambabu Kalathoti</a:t>
            </a:r>
            <a:endParaRPr sz="17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998464" y="3749039"/>
            <a:ext cx="896112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r"/>
            <a:r>
              <a:rPr sz="1400" b="1">
                <a:solidFill>
                  <a:srgbClr val="00B050"/>
                </a:solidFill>
                <a:latin typeface="Calibri" panose="020F0502020204030204"/>
              </a:rPr>
              <a:t>Member</a:t>
            </a:r>
            <a:endParaRPr sz="14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5998464" y="4224528"/>
            <a:ext cx="896112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r"/>
            <a:r>
              <a:rPr sz="1400" b="1">
                <a:solidFill>
                  <a:srgbClr val="00B050"/>
                </a:solidFill>
                <a:latin typeface="Calibri" panose="020F0502020204030204"/>
              </a:rPr>
              <a:t>Member</a:t>
            </a:r>
            <a:endParaRPr sz="14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078992" y="4700016"/>
            <a:ext cx="1389888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600" b="1">
                <a:solidFill>
                  <a:srgbClr val="0070C0"/>
                </a:solidFill>
                <a:latin typeface="Calibri" panose="020F0502020204030204"/>
              </a:rPr>
              <a:t>2300031256</a:t>
            </a:r>
            <a:endParaRPr sz="16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542032" y="4700016"/>
            <a:ext cx="3840480" cy="292608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Calibri" panose="020F0502020204030204"/>
              </a:rPr>
              <a:t>CHOPPARAPU JESWANTH VARUN</a:t>
            </a:r>
            <a:endParaRPr sz="17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5998464" y="4700016"/>
            <a:ext cx="896112" cy="274320"/>
          </a:xfrm>
          <a:prstGeom prst="rect">
            <a:avLst/>
          </a:prstGeom>
          <a:noFill/>
        </p:spPr>
        <p:txBody>
          <a:bodyPr wrap="square" lIns="73152" tIns="27432" rIns="73152" bIns="27432">
            <a:spAutoFit/>
          </a:bodyPr>
          <a:lstStyle/>
          <a:p>
            <a:pPr algn="r"/>
            <a:r>
              <a:rPr sz="1400" b="1">
                <a:solidFill>
                  <a:srgbClr val="00B050"/>
                </a:solidFill>
                <a:latin typeface="Calibri" panose="020F0502020204030204"/>
              </a:rPr>
              <a:t>Member</a:t>
            </a:r>
            <a:endParaRPr sz="1400" b="1">
              <a:solidFill>
                <a:srgbClr val="00B05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 anchor="ctr"/>
          <a:lstStyle/>
          <a:p>
            <a:pPr algn="ctr"/>
            <a:r>
              <a:rPr lang="en-US" sz="3000" b="1" dirty="0">
                <a:solidFill>
                  <a:srgbClr val="000000"/>
                </a:solidFill>
                <a:latin typeface="Calibri" panose="020F0502020204030204"/>
              </a:rPr>
              <a:t>OUTLINE</a:t>
            </a:r>
            <a:endParaRPr lang="en-US" sz="3000" b="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68680" y="1490472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01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99031" y="1490472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Introduction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1399031" y="1984248"/>
            <a:ext cx="4590289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2276856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02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99031" y="2276856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Problem Statement &amp; Objectives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1399031" y="2770632"/>
            <a:ext cx="4590289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3063239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03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99031" y="3063239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Requirements &amp; Acceptance Criteria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1399031" y="3557015"/>
            <a:ext cx="4590289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3849624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04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99031" y="3849624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Alternative Solutions &amp; Trade-off Analysis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1399031" y="4343400"/>
            <a:ext cx="4590289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68680" y="4636008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05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99031" y="4636008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Complete System Architecture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1399031" y="5129784"/>
            <a:ext cx="4590289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00800" y="1490472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06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31152" y="1490472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Detailed Design &amp; Data Flow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6931152" y="1984248"/>
            <a:ext cx="4590288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0" y="2276856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07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1152" y="2276856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Implementation &amp; Unit-Level Progress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6931152" y="2770632"/>
            <a:ext cx="4590288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0" y="3063239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08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931152" y="3063239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Testing &amp; Results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6931152" y="3557015"/>
            <a:ext cx="4590288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00800" y="3849624"/>
            <a:ext cx="43891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09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931152" y="3849624"/>
            <a:ext cx="4800600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000000"/>
                </a:solidFill>
                <a:latin typeface="Calibri" panose="020F0502020204030204"/>
              </a:rPr>
              <a:t>Conclusion &amp; Future Scope</a:t>
            </a:r>
            <a:endParaRPr sz="22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931152" y="4343400"/>
            <a:ext cx="4590288" cy="0"/>
          </a:xfrm>
          <a:prstGeom prst="line">
            <a:avLst/>
          </a:prstGeom>
          <a:ln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 anchor="ctr"/>
          <a:lstStyle/>
          <a:p>
            <a:pPr algn="ctr"/>
            <a:r>
              <a:rPr lang="en-US" sz="3000" b="1" dirty="0">
                <a:solidFill>
                  <a:srgbClr val="000000"/>
                </a:solidFill>
                <a:latin typeface="Calibri" panose="020F0502020204030204"/>
              </a:rPr>
              <a:t>INTRODUCTION</a:t>
            </a:r>
            <a:endParaRPr lang="en-US" sz="3000" b="1" dirty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3</a:t>
            </a: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777240" y="1481328"/>
            <a:ext cx="3657600" cy="16642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481328"/>
            <a:ext cx="64008" cy="166420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627632"/>
            <a:ext cx="331012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70C0"/>
                </a:solidFill>
                <a:latin typeface="Calibri" panose="020F0502020204030204"/>
              </a:rPr>
              <a:t>WHY NESTED TUNING?</a:t>
            </a:r>
            <a:endParaRPr sz="22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2" y="2048256"/>
            <a:ext cx="3346704" cy="978408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Calibri" panose="020F0502020204030204"/>
              </a:rPr>
              <a:t>Outer trial owns parent PG
Inner training requests child PG
Parent can hold resources child needs</a:t>
            </a:r>
            <a:endParaRPr sz="17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77240" y="3383280"/>
            <a:ext cx="3657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383280"/>
            <a:ext cx="64008" cy="20116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529584"/>
            <a:ext cx="331012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B050"/>
                </a:solidFill>
                <a:latin typeface="Calibri" panose="020F0502020204030204"/>
              </a:rPr>
              <a:t>PROJECT RESPONSE</a:t>
            </a:r>
            <a:endParaRPr sz="22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41832" y="3950208"/>
            <a:ext cx="3346704" cy="1325880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Calibri" panose="020F0502020204030204"/>
              </a:rPr>
              <a:t>Model nested resource demand
Compare FIFO, Greedy, Deadlock-aware
Measure cycles and unresolved trials
Reproduce on Ray 2.10.0</a:t>
            </a:r>
            <a:endParaRPr sz="17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92040" y="1572768"/>
            <a:ext cx="6172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Calibri" panose="020F0502020204030204"/>
              </a:rPr>
              <a:t>THE RESULT IS MEASURABLE</a:t>
            </a:r>
            <a:endParaRPr sz="24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892040" y="2212848"/>
            <a:ext cx="16002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>
                <a:solidFill>
                  <a:srgbClr val="C00000"/>
                </a:solidFill>
                <a:latin typeface="Calibri" panose="020F0502020204030204"/>
              </a:rPr>
              <a:t>4/4/1/3</a:t>
            </a:r>
            <a:endParaRPr sz="2800" b="1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720840" y="2231136"/>
            <a:ext cx="4297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000000"/>
                </a:solidFill>
                <a:latin typeface="Calibri" panose="020F0502020204030204"/>
              </a:rPr>
              <a:t>real-Ray resource accounting</a:t>
            </a:r>
            <a:endParaRPr sz="20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892040" y="3218688"/>
            <a:ext cx="16002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>
                <a:solidFill>
                  <a:srgbClr val="ED7D31"/>
                </a:solidFill>
                <a:latin typeface="Calibri" panose="020F0502020204030204"/>
              </a:rPr>
              <a:t>70</a:t>
            </a:r>
            <a:endParaRPr sz="2800" b="1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20840" y="3236976"/>
            <a:ext cx="4297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000000"/>
                </a:solidFill>
                <a:latin typeface="Calibri" panose="020F0502020204030204"/>
              </a:rPr>
              <a:t>automated tests passed</a:t>
            </a:r>
            <a:endParaRPr sz="20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892040" y="4224528"/>
            <a:ext cx="16002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>
                <a:solidFill>
                  <a:srgbClr val="0070C0"/>
                </a:solidFill>
                <a:latin typeface="Calibri" panose="020F0502020204030204"/>
              </a:rPr>
              <a:t>0</a:t>
            </a:r>
            <a:endParaRPr sz="2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720840" y="4242816"/>
            <a:ext cx="42976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000000"/>
                </a:solidFill>
                <a:latin typeface="Calibri" panose="020F0502020204030204"/>
              </a:rPr>
              <a:t>unresolved CP-2 deadlocks</a:t>
            </a:r>
            <a:endParaRPr sz="2000" b="0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 anchor="ctr"/>
          <a:lstStyle/>
          <a:p>
            <a:pPr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PROBLEM STATEMENT &amp; OBJECTIVES</a:t>
            </a:r>
            <a:endParaRPr lang="en-US" b="1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323522" cy="365125"/>
          </a:xfrm>
        </p:spPr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4</a:t>
            </a:r>
            <a:endParaRPr lang="en-US" dirty="0"/>
          </a:p>
        </p:txBody>
      </p:sp>
      <p:sp>
        <p:nvSpPr>
          <p:cNvPr id="9" name="Rounded Rectangle 8"/>
          <p:cNvSpPr/>
          <p:nvPr/>
        </p:nvSpPr>
        <p:spPr>
          <a:xfrm>
            <a:off x="777240" y="1481328"/>
            <a:ext cx="3749039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481328"/>
            <a:ext cx="64008" cy="44348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627632"/>
            <a:ext cx="340156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0000"/>
                </a:solidFill>
                <a:latin typeface="Calibri" panose="020F0502020204030204"/>
              </a:rPr>
              <a:t>PROBLEM STATEMENT</a:t>
            </a:r>
            <a:endParaRPr sz="2200" b="1">
              <a:solidFill>
                <a:srgbClr val="C0000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2" y="2048256"/>
            <a:ext cx="3438144" cy="3749039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Calibri" panose="020F0502020204030204"/>
              </a:rPr>
              <a:t>Parent placement group can reserve the whole cluster
Nested child cannot be admitted although aggregate capacity looks sufficient
FIFO and Greedy are hierarchy-blind
Unbounded hangs are hard to compare or test</a:t>
            </a:r>
            <a:endParaRPr sz="20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919472" y="1508760"/>
            <a:ext cx="60807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Calibri" panose="020F0502020204030204"/>
              </a:rPr>
              <a:t>Four measurable objectives</a:t>
            </a:r>
            <a:endParaRPr sz="24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919472" y="2075688"/>
            <a:ext cx="5303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01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596128" y="2075688"/>
            <a:ext cx="23317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0000"/>
                </a:solidFill>
                <a:latin typeface="Calibri" panose="020F0502020204030204"/>
              </a:rPr>
              <a:t>Model hierarchy</a:t>
            </a:r>
            <a:endParaRPr sz="20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28431" y="2075688"/>
            <a:ext cx="292608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Parent + child placement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919472" y="2990088"/>
            <a:ext cx="5303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02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96128" y="2990088"/>
            <a:ext cx="23317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0000"/>
                </a:solidFill>
                <a:latin typeface="Calibri" panose="020F0502020204030204"/>
              </a:rPr>
              <a:t>Compare policies</a:t>
            </a:r>
            <a:endParaRPr sz="20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028431" y="2990088"/>
            <a:ext cx="292608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FIFO vs Greedy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19472" y="3904487"/>
            <a:ext cx="5303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03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96128" y="3904487"/>
            <a:ext cx="23317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0000"/>
                </a:solidFill>
                <a:latin typeface="Calibri" panose="020F0502020204030204"/>
              </a:rPr>
              <a:t>Prevent deadlocks</a:t>
            </a:r>
            <a:endParaRPr sz="20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28431" y="3904487"/>
            <a:ext cx="292608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Reject / defer unsafe fit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919472" y="4818888"/>
            <a:ext cx="53035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04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96128" y="4818888"/>
            <a:ext cx="23317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0000"/>
                </a:solidFill>
                <a:latin typeface="Calibri" panose="020F0502020204030204"/>
              </a:rPr>
              <a:t>Produce evidence</a:t>
            </a:r>
            <a:endParaRPr sz="20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28431" y="4818888"/>
            <a:ext cx="292608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30s bound + metrics + trace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FUNCTIONAL &amp; NON-FUNCTIONAL REQUIREMENTS</a:t>
            </a:r>
            <a:br>
              <a:rPr lang="en-IN" b="1" dirty="0" smtClean="0"/>
            </a:br>
            <a:endParaRPr lang="en-US" b="1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5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53492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70C0"/>
                </a:solidFill>
                <a:latin typeface="Calibri" panose="020F0502020204030204"/>
              </a:rPr>
              <a:t>FUNCTIONAL REQUIREMENTS</a:t>
            </a:r>
            <a:endParaRPr sz="22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640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70C0"/>
                </a:solidFill>
                <a:latin typeface="Calibri" panose="020F0502020204030204"/>
              </a:rPr>
              <a:t>FR-1</a:t>
            </a:r>
            <a:endParaRPr sz="1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21488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Validate workloads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85032" y="1828800"/>
            <a:ext cx="224028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Schema + 7 dev fixtures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2542032"/>
            <a:ext cx="640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70C0"/>
                </a:solidFill>
                <a:latin typeface="Calibri" panose="020F0502020204030204"/>
              </a:rPr>
              <a:t>FR-2</a:t>
            </a:r>
            <a:endParaRPr sz="1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81328" y="2542032"/>
            <a:ext cx="21488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Simulate hierarchy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85032" y="2542032"/>
            <a:ext cx="224028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Atomic parent + child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" y="3255264"/>
            <a:ext cx="640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70C0"/>
                </a:solidFill>
                <a:latin typeface="Calibri" panose="020F0502020204030204"/>
              </a:rPr>
              <a:t>FR-3</a:t>
            </a:r>
            <a:endParaRPr sz="1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81328" y="3255264"/>
            <a:ext cx="21488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Compare policies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685032" y="3255264"/>
            <a:ext cx="224028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FIFO / Greedy / CP-2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3968496"/>
            <a:ext cx="640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70C0"/>
                </a:solidFill>
                <a:latin typeface="Calibri" panose="020F0502020204030204"/>
              </a:rPr>
              <a:t>FR-4</a:t>
            </a:r>
            <a:endParaRPr sz="1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81328" y="3968496"/>
            <a:ext cx="21488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Prevent unsafe admission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85032" y="3968496"/>
            <a:ext cx="224028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Reject / defer / recover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7240" y="4681728"/>
            <a:ext cx="640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70C0"/>
                </a:solidFill>
                <a:latin typeface="Calibri" panose="020F0502020204030204"/>
              </a:rPr>
              <a:t>FR-5</a:t>
            </a:r>
            <a:endParaRPr sz="1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81328" y="4681728"/>
            <a:ext cx="214884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Expose evidence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85032" y="4681728"/>
            <a:ext cx="224028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API + dashboard + reports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63640" y="141732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B050"/>
                </a:solidFill>
                <a:latin typeface="Calibri" panose="020F0502020204030204"/>
              </a:rPr>
              <a:t>NON-FUNCTIONAL REQUIREMENTS</a:t>
            </a:r>
            <a:endParaRPr sz="22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63640" y="1828800"/>
            <a:ext cx="5074920" cy="640080"/>
          </a:xfrm>
          <a:prstGeom prst="roundRect">
            <a:avLst/>
          </a:prstGeom>
          <a:solidFill>
            <a:srgbClr val="E2F3EA"/>
          </a:solidFill>
          <a:ln w="12700">
            <a:solidFill>
              <a:srgbClr val="C8E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1975104"/>
            <a:ext cx="74980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NFR-1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23760" y="1938528"/>
            <a:ext cx="388620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Deterministic output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63640" y="2688336"/>
            <a:ext cx="5074920" cy="640080"/>
          </a:xfrm>
          <a:prstGeom prst="roundRect">
            <a:avLst/>
          </a:prstGeom>
          <a:solidFill>
            <a:srgbClr val="E2F3EA"/>
          </a:solidFill>
          <a:ln w="12700">
            <a:solidFill>
              <a:srgbClr val="C8E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2834640"/>
            <a:ext cx="74980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NFR-2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223760" y="2798064"/>
            <a:ext cx="388620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30-second bounded execution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63640" y="3547872"/>
            <a:ext cx="5074920" cy="640080"/>
          </a:xfrm>
          <a:prstGeom prst="roundRect">
            <a:avLst/>
          </a:prstGeom>
          <a:solidFill>
            <a:srgbClr val="E2F3EA"/>
          </a:solidFill>
          <a:ln w="12700">
            <a:solidFill>
              <a:srgbClr val="C8E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694176"/>
            <a:ext cx="74980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NFR-3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23760" y="3657600"/>
            <a:ext cx="388620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Docker + pinned Ray 2.10.0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263640" y="4407408"/>
            <a:ext cx="5074920" cy="640080"/>
          </a:xfrm>
          <a:prstGeom prst="roundRect">
            <a:avLst/>
          </a:prstGeom>
          <a:solidFill>
            <a:srgbClr val="E2F3EA"/>
          </a:solidFill>
          <a:ln w="12700">
            <a:solidFill>
              <a:srgbClr val="C8E1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4553712"/>
            <a:ext cx="74980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NFR-4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223760" y="4517136"/>
            <a:ext cx="388620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CI validates; no prod claim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309360" y="5431536"/>
            <a:ext cx="49834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666666"/>
                </a:solidFill>
                <a:latin typeface="Calibri" panose="020F0502020204030204"/>
              </a:rPr>
              <a:t>Acceptance: 70 tests + oracle + frozen CP-1 + CP-2 result</a:t>
            </a:r>
            <a:endParaRPr sz="1800" b="0">
              <a:solidFill>
                <a:srgbClr val="66666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ALTERNATIVE SOLUTIONS &amp; TRADE-OFF ANALYSIS</a:t>
            </a:r>
            <a:endParaRPr lang="en-US" b="1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6</a:t>
            </a: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52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572768"/>
            <a:ext cx="22402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66666"/>
                </a:solidFill>
                <a:latin typeface="Calibri" panose="020F0502020204030204"/>
              </a:rPr>
              <a:t>BASELINE 1 · FIFO</a:t>
            </a:r>
            <a:endParaRPr sz="1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7560" y="1563624"/>
            <a:ext cx="242316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FIFO baseline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897880" y="1545336"/>
            <a:ext cx="5212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Simple arrival-order reference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897880" y="2029968"/>
            <a:ext cx="521208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Head-of-line blocking; hierarchy-blind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7240" y="2907791"/>
            <a:ext cx="10652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063239"/>
            <a:ext cx="22402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66666"/>
                </a:solidFill>
                <a:latin typeface="Calibri" panose="020F0502020204030204"/>
              </a:rPr>
              <a:t>BASELINE 2 · GREEDY</a:t>
            </a:r>
            <a:endParaRPr sz="1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37560" y="3054096"/>
            <a:ext cx="242316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Greedy / backfilling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897880" y="3035808"/>
            <a:ext cx="5212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Skips blocked head; improves throughput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897880" y="3520439"/>
            <a:ext cx="521208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Still admits unsafe parent-only fits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77240" y="4398264"/>
            <a:ext cx="10652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553712"/>
            <a:ext cx="22402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66666"/>
                </a:solidFill>
                <a:latin typeface="Calibri" panose="020F0502020204030204"/>
              </a:rPr>
              <a:t>CP-2 CONTROLLER</a:t>
            </a:r>
            <a:endParaRPr sz="1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337560" y="4544568"/>
            <a:ext cx="242316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Deadlock-aware policy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897880" y="4526279"/>
            <a:ext cx="52120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Checks parent + child before admission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897880" y="5010912"/>
            <a:ext cx="521208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666"/>
                </a:solidFill>
                <a:latin typeface="Calibri" panose="020F0502020204030204"/>
              </a:rPr>
              <a:t>Rejects infeasible; defers unsafe; explains why</a:t>
            </a:r>
            <a:endParaRPr sz="17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8680" y="5925312"/>
            <a:ext cx="10424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Research basis: Ray [1] • Tune [2] • DRF [3] • deadlock detection [4] • Hyperband/ASHA [5][6]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 anchor="ctr"/>
          <a:lstStyle/>
          <a:p>
            <a:pPr marL="514350" indent="-514350"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COMPLETE SYSTEM ARCHITECTURE</a:t>
            </a:r>
            <a:endParaRPr lang="en-US" b="1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7</a:t>
            </a: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658368" y="2057400"/>
            <a:ext cx="1609344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142646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1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8096" y="2697480"/>
            <a:ext cx="1389888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JSON fixtures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6384" y="3410712"/>
            <a:ext cx="13533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Cluster + trials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286000" y="3127248"/>
            <a:ext cx="219456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542032" y="2057400"/>
            <a:ext cx="1609344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2249424"/>
            <a:ext cx="142646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2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51760" y="2697480"/>
            <a:ext cx="1389888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Validation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670048" y="3410712"/>
            <a:ext cx="13533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Schema checks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4169664" y="3127248"/>
            <a:ext cx="219456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25696" y="2057400"/>
            <a:ext cx="1609344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2249424"/>
            <a:ext cx="142646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3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35424" y="2697480"/>
            <a:ext cx="1389888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Simulator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53712" y="3410712"/>
            <a:ext cx="13533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0.1s ticks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6053328" y="3127248"/>
            <a:ext cx="219455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59" y="2057400"/>
            <a:ext cx="1609344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799" y="2249424"/>
            <a:ext cx="142646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4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19088" y="2697480"/>
            <a:ext cx="1389888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Policy engine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37375" y="3410712"/>
            <a:ext cx="13533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FIFO • Greedy • CP-2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7936992" y="3127248"/>
            <a:ext cx="219456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193024" y="2057400"/>
            <a:ext cx="1609344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84464" y="2249424"/>
            <a:ext cx="142646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5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02752" y="2697480"/>
            <a:ext cx="1389888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Telemetry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321040" y="3410712"/>
            <a:ext cx="13533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Cycles + stranding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9820656" y="3127248"/>
            <a:ext cx="219456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076688" y="2057400"/>
            <a:ext cx="1609344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68128" y="2249424"/>
            <a:ext cx="1426464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6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186416" y="2697480"/>
            <a:ext cx="1389888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API + UI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204704" y="3410712"/>
            <a:ext cx="135331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66666"/>
                </a:solidFill>
                <a:latin typeface="Calibri" panose="020F0502020204030204"/>
              </a:rPr>
              <a:t>FastAPI + Next.js</a:t>
            </a:r>
            <a:endParaRPr sz="16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97280" y="4736592"/>
            <a:ext cx="9994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Frozen CP-1 baseline → CP-2 controller → evidence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920240" y="5321808"/>
            <a:ext cx="8348472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666666"/>
                </a:solidFill>
                <a:latin typeface="Calibri" panose="020F0502020204030204"/>
              </a:rPr>
              <a:t>Python • FastAPI • Next.js • Docker • K8s • Helm • Ray 2.10</a:t>
            </a:r>
            <a:endParaRPr sz="1800" b="0">
              <a:solidFill>
                <a:srgbClr val="66666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995081" y="365125"/>
            <a:ext cx="10799521" cy="1128009"/>
          </a:xfrm>
        </p:spPr>
        <p:txBody>
          <a:bodyPr anchor="ctr">
            <a:normAutofit/>
          </a:bodyPr>
          <a:lstStyle/>
          <a:p>
            <a:pPr marL="514350" indent="-514350" algn="ctr"/>
            <a:r>
              <a:rPr lang="en-IN" sz="3000" b="1" dirty="0" smtClean="0">
                <a:solidFill>
                  <a:srgbClr val="000000"/>
                </a:solidFill>
                <a:latin typeface="Calibri" panose="020F0502020204030204"/>
              </a:rPr>
              <a:t> </a:t>
            </a:r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DETAILED DESIGN &amp; DATA FLOW</a:t>
            </a:r>
            <a:endParaRPr lang="en-US" b="1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8</a:t>
            </a:r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777240" y="1554480"/>
            <a:ext cx="3337560" cy="35478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64792"/>
            <a:ext cx="2971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INPUT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185416"/>
            <a:ext cx="2971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Calibri" panose="020F0502020204030204"/>
              </a:rPr>
              <a:t>Workload JSON</a:t>
            </a:r>
            <a:endParaRPr sz="21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9848" y="2770632"/>
            <a:ext cx="2743200" cy="1965960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Calibri" panose="020F0502020204030204"/>
              </a:rPr>
              <a:t>Capacity | arrival | duration | parent/child bundles</a:t>
            </a:r>
            <a:endParaRPr sz="18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4142232" y="3310128"/>
            <a:ext cx="310895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53712" y="1554480"/>
            <a:ext cx="3337560" cy="35478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6592" y="1764792"/>
            <a:ext cx="2971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INTELLIGENCE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36592" y="2185416"/>
            <a:ext cx="2971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Calibri" panose="020F0502020204030204"/>
              </a:rPr>
              <a:t>Simulation tick</a:t>
            </a:r>
            <a:endParaRPr sz="21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46320" y="2770632"/>
            <a:ext cx="2743200" cy="1965960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Calibri" panose="020F0502020204030204"/>
              </a:rPr>
              <a:t>Policy decides → parent admit → child fit → state/event</a:t>
            </a:r>
            <a:endParaRPr sz="18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7918704" y="3310128"/>
            <a:ext cx="310896" cy="0"/>
          </a:xfrm>
          <a:prstGeom prst="line">
            <a:avLst/>
          </a:prstGeom>
          <a:ln w="254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30183" y="1554480"/>
            <a:ext cx="3337560" cy="3547872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3063" y="1764792"/>
            <a:ext cx="2971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70C0"/>
                </a:solidFill>
                <a:latin typeface="Calibri" panose="020F0502020204030204"/>
              </a:rPr>
              <a:t>OUTPUT</a:t>
            </a:r>
            <a:endParaRPr sz="20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13063" y="2185416"/>
            <a:ext cx="2971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Calibri" panose="020F0502020204030204"/>
              </a:rPr>
              <a:t>Evidence + interfaces</a:t>
            </a:r>
            <a:endParaRPr sz="21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22792" y="2770632"/>
            <a:ext cx="2743200" cy="1965960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Calibri" panose="020F0502020204030204"/>
              </a:rPr>
              <a:t>JSON/CSV/PNG | /health /scenarios /simulate /benchmark /validate</a:t>
            </a:r>
            <a:endParaRPr sz="18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51560" y="5440680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000000"/>
                </a:solidFill>
                <a:latin typeface="Calibri" panose="020F0502020204030204"/>
              </a:rPr>
              <a:t>WAITING_CHILD → observer self-cycle → CP-2 reject/defer → bounded result</a:t>
            </a:r>
            <a:endParaRPr sz="2000" b="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marL="514350" indent="-514350"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IMPLEMENTATION &amp; UNIT-LEVEL PROGRESS</a:t>
            </a:r>
            <a:endParaRPr lang="en-US" b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9</a:t>
            </a: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41248" y="918083"/>
            <a:ext cx="292608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070C0"/>
                </a:solidFill>
                <a:latin typeface="Calibri" panose="020F0502020204030204"/>
              </a:rPr>
              <a:t>10 review deliverables implemented</a:t>
            </a:r>
            <a:endParaRPr sz="25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886200" y="1481328"/>
            <a:ext cx="7269480" cy="256032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86200" y="1481328"/>
            <a:ext cx="4361688" cy="256032"/>
          </a:xfrm>
          <a:prstGeom prst="round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029968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Schema + fixtures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17136" y="2011680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84832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B050"/>
                </a:solidFill>
                <a:latin typeface="Calibri" panose="020F0502020204030204"/>
              </a:rPr>
              <a:t>Verified</a:t>
            </a:r>
            <a:endParaRPr sz="15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743200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Simulator + telemetry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517136" y="2724912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798064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B050"/>
                </a:solidFill>
                <a:latin typeface="Calibri" panose="020F0502020204030204"/>
              </a:rPr>
              <a:t>Verified</a:t>
            </a:r>
            <a:endParaRPr sz="15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8" y="3456432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FIFO / Greedy baselines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517136" y="3438144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3511296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B050"/>
                </a:solidFill>
                <a:latin typeface="Calibri" panose="020F0502020204030204"/>
              </a:rPr>
              <a:t>Verified</a:t>
            </a:r>
            <a:endParaRPr sz="15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1248" y="4169664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Deadlock-aware controller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17136" y="4151376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224528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B050"/>
                </a:solidFill>
                <a:latin typeface="Calibri" panose="020F0502020204030204"/>
              </a:rPr>
              <a:t>Verified</a:t>
            </a:r>
            <a:endParaRPr sz="15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41248" y="4882896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Oracle + deterministic gate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17136" y="4864608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937759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B050"/>
                </a:solidFill>
                <a:latin typeface="Calibri" panose="020F0502020204030204"/>
              </a:rPr>
              <a:t>70 PASS</a:t>
            </a:r>
            <a:endParaRPr sz="15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27648" y="2029968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FastAPI + advisor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0003536" y="2011680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2" y="2084832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B050"/>
                </a:solidFill>
                <a:latin typeface="Calibri" panose="020F0502020204030204"/>
              </a:rPr>
              <a:t>Verified</a:t>
            </a:r>
            <a:endParaRPr sz="15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27648" y="2743200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Next.js dashboard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0003536" y="2724912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0112" y="2798064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D7D31"/>
                </a:solidFill>
                <a:latin typeface="Calibri" panose="020F0502020204030204"/>
              </a:rPr>
              <a:t>Built</a:t>
            </a:r>
            <a:endParaRPr sz="1500" b="1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327648" y="3456432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Ray 2.10 Docker repro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10003536" y="3438144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0112" y="3511296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D7D31"/>
                </a:solidFill>
                <a:latin typeface="Calibri" panose="020F0502020204030204"/>
              </a:rPr>
              <a:t>Verified</a:t>
            </a:r>
            <a:endParaRPr sz="1500" b="1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327648" y="4169664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K8s + Helm packaging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0003536" y="4151376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40112" y="4224528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ED7D31"/>
                </a:solidFill>
                <a:latin typeface="Calibri" panose="020F0502020204030204"/>
              </a:rPr>
              <a:t>CI PASS</a:t>
            </a:r>
            <a:endParaRPr sz="1500" b="1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27648" y="4882896"/>
            <a:ext cx="35204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0000"/>
                </a:solidFill>
                <a:latin typeface="Calibri" panose="020F0502020204030204"/>
              </a:rPr>
              <a:t>Viva metadata / literature</a:t>
            </a:r>
            <a:endParaRPr sz="19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10003536" y="4864608"/>
            <a:ext cx="123444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40112" y="4937759"/>
            <a:ext cx="11612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666666"/>
                </a:solidFill>
                <a:latin typeface="Calibri" panose="020F0502020204030204"/>
              </a:rPr>
              <a:t>Pending</a:t>
            </a:r>
            <a:endParaRPr sz="15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325880" y="5797296"/>
            <a:ext cx="9601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Next critical path: rehearse the viva, fill names/guide, read the cited papers, and choose a venue.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TESTING&amp; RESULTS </a:t>
            </a:r>
            <a:br>
              <a:rPr lang="en-US" b="1" dirty="0" smtClean="0"/>
            </a:br>
            <a:endParaRPr lang="en-US" b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10</a:t>
            </a: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85800" y="1335024"/>
            <a:ext cx="2514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070C0"/>
                </a:solidFill>
                <a:latin typeface="Calibri" panose="020F0502020204030204"/>
              </a:rPr>
              <a:t>5/12</a:t>
            </a:r>
            <a:endParaRPr sz="2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2514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FIFO baseline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5800" y="2075688"/>
            <a:ext cx="25146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666666"/>
                </a:solidFill>
                <a:latin typeface="Calibri" panose="020F0502020204030204"/>
              </a:rPr>
              <a:t>7 unresolved</a:t>
            </a:r>
            <a:endParaRPr sz="15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47872" y="1335024"/>
            <a:ext cx="2514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070C0"/>
                </a:solidFill>
                <a:latin typeface="Calibri" panose="020F0502020204030204"/>
              </a:rPr>
              <a:t>7/12</a:t>
            </a:r>
            <a:endParaRPr sz="2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547872" y="1792224"/>
            <a:ext cx="2514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Greedy baseline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47872" y="2075688"/>
            <a:ext cx="25146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666666"/>
                </a:solidFill>
                <a:latin typeface="Calibri" panose="020F0502020204030204"/>
              </a:rPr>
              <a:t>5 unresolved</a:t>
            </a:r>
            <a:endParaRPr sz="15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9944" y="1335024"/>
            <a:ext cx="2514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070C0"/>
                </a:solidFill>
                <a:latin typeface="Calibri" panose="020F0502020204030204"/>
              </a:rPr>
              <a:t>7/12</a:t>
            </a:r>
            <a:endParaRPr sz="2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9944" y="1792224"/>
            <a:ext cx="2514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CP-2 completed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9944" y="2075688"/>
            <a:ext cx="25146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666666"/>
                </a:solidFill>
                <a:latin typeface="Calibri" panose="020F0502020204030204"/>
              </a:rPr>
              <a:t>0 unresolved</a:t>
            </a:r>
            <a:endParaRPr sz="15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72016" y="1335024"/>
            <a:ext cx="25146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0B050"/>
                </a:solidFill>
                <a:latin typeface="Calibri" panose="020F0502020204030204"/>
              </a:rPr>
              <a:t>70/70</a:t>
            </a:r>
            <a:endParaRPr sz="2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272016" y="1792224"/>
            <a:ext cx="2514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0000"/>
                </a:solidFill>
                <a:latin typeface="Calibri" panose="020F0502020204030204"/>
              </a:rPr>
              <a:t>pytest</a:t>
            </a:r>
            <a:endParaRPr sz="18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272016" y="2075688"/>
            <a:ext cx="25146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666666"/>
                </a:solidFill>
                <a:latin typeface="Calibri" panose="020F0502020204030204"/>
              </a:rPr>
              <a:t>14/14 oracle + gate</a:t>
            </a:r>
            <a:endParaRPr sz="1500" b="0">
              <a:solidFill>
                <a:srgbClr val="666666"/>
              </a:solidFill>
              <a:latin typeface="Calibri" panose="020F0502020204030204"/>
            </a:endParaRP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777240" y="2578608"/>
          <a:ext cx="6492240" cy="29992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5422392"/>
            <a:ext cx="61264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666666"/>
                </a:solidFill>
                <a:latin typeface="Calibri" panose="020F0502020204030204"/>
              </a:rPr>
              <a:t>CP-2 policy comparison (counts across 12 trials)</a:t>
            </a:r>
            <a:endParaRPr sz="14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571231" y="2578608"/>
            <a:ext cx="3822191" cy="2999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2578608"/>
            <a:ext cx="64008" cy="29992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2724912"/>
            <a:ext cx="34747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B050"/>
                </a:solidFill>
                <a:latin typeface="Calibri" panose="020F0502020204030204"/>
              </a:rPr>
              <a:t>REAL-RAY EVIDENCE</a:t>
            </a:r>
            <a:endParaRPr sz="19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735823" y="3145536"/>
            <a:ext cx="3511296" cy="2313432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5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Calibri" panose="020F0502020204030204"/>
              </a:rPr>
              <a:t>Ray 2.10.0: child PG PENDING for 91.8s | 4 total / 4 reserved / 1 useful / 3 stranded</a:t>
            </a:r>
            <a:endParaRPr sz="1600" b="0">
              <a:solidFill>
                <a:srgbClr val="00000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lang="en-US" sz="3000" b="1" dirty="0" smtClean="0">
                <a:solidFill>
                  <a:srgbClr val="000000"/>
                </a:solidFill>
                <a:latin typeface="Calibri" panose="020F0502020204030204"/>
              </a:rPr>
              <a:t>CONCLUSION&amp; FUTURE SCOPE</a:t>
            </a:r>
            <a:br>
              <a:rPr lang="en-US" b="1" dirty="0" smtClean="0"/>
            </a:br>
            <a:endParaRPr lang="en-US" b="1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11</a:t>
            </a:r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257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70C0"/>
                </a:solidFill>
                <a:latin typeface="Calibri" panose="020F0502020204030204"/>
              </a:rPr>
              <a:t>CONCLUSION</a:t>
            </a:r>
            <a:endParaRPr sz="22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1248" y="1810512"/>
            <a:ext cx="5010912" cy="3246120"/>
          </a:xfrm>
          <a:prstGeom prst="rect">
            <a:avLst/>
          </a:prstGeom>
          <a:noFill/>
        </p:spPr>
        <p:txBody>
          <a:bodyPr wrap="square" lIns="73152" tIns="27432" rIns="27432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Calibri" panose="020F0502020204030204"/>
              </a:rPr>
              <a:t>CP-1 establishes FIFO and Greedy baselines.
CP-2 checks parent + child before admission.
Unresolved cases become explicit rejections: 7/5 → 0 unresolved.
Validated by simulator evidence and a Ray 2.10.0 reproduction.</a:t>
            </a:r>
            <a:endParaRPr sz="20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44768" y="1371600"/>
            <a:ext cx="5257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B050"/>
                </a:solidFill>
                <a:latin typeface="Calibri" panose="020F0502020204030204"/>
              </a:rPr>
              <a:t>FUTURE SCOPE / COMPLETION PLAN</a:t>
            </a:r>
            <a:endParaRPr sz="22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72200" y="1828800"/>
            <a:ext cx="914400" cy="3017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W1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178040" y="1828800"/>
            <a:ext cx="3886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Read papers + literature review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629400" y="2212848"/>
            <a:ext cx="0" cy="338328"/>
          </a:xfrm>
          <a:prstGeom prst="line">
            <a:avLst/>
          </a:prstGeom>
          <a:ln w="25400">
            <a:solidFill>
              <a:srgbClr val="BED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72200" y="2523744"/>
            <a:ext cx="914400" cy="3017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W2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78040" y="2523744"/>
            <a:ext cx="3886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Fill team/guide + rehearse demo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6629400" y="2907791"/>
            <a:ext cx="0" cy="338329"/>
          </a:xfrm>
          <a:prstGeom prst="line">
            <a:avLst/>
          </a:prstGeom>
          <a:ln w="25400">
            <a:solidFill>
              <a:srgbClr val="BED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72200" y="3218688"/>
            <a:ext cx="914400" cy="3017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W3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78040" y="3218688"/>
            <a:ext cx="3886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Test newer Ray / multi-node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3602736"/>
            <a:ext cx="0" cy="338328"/>
          </a:xfrm>
          <a:prstGeom prst="line">
            <a:avLst/>
          </a:prstGeom>
          <a:ln w="25400">
            <a:solidFill>
              <a:srgbClr val="BED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72200" y="3913632"/>
            <a:ext cx="914400" cy="3017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W4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78040" y="3913632"/>
            <a:ext cx="3886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Add traces and workload diversity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6629400" y="4297680"/>
            <a:ext cx="0" cy="338328"/>
          </a:xfrm>
          <a:prstGeom prst="line">
            <a:avLst/>
          </a:prstGeom>
          <a:ln w="25400">
            <a:solidFill>
              <a:srgbClr val="BED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172200" y="4608576"/>
            <a:ext cx="914400" cy="3017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B050"/>
                </a:solidFill>
                <a:latin typeface="Calibri" panose="020F0502020204030204"/>
              </a:rPr>
              <a:t>W5</a:t>
            </a:r>
            <a:endParaRPr sz="18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178040" y="4608576"/>
            <a:ext cx="3886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000000"/>
                </a:solidFill>
                <a:latin typeface="Calibri" panose="020F0502020204030204"/>
              </a:rPr>
              <a:t>Submit preprint or workshop paper</a:t>
            </a:r>
            <a:endParaRPr sz="1900" b="0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68680" y="5486400"/>
            <a:ext cx="10469880" cy="457200"/>
          </a:xfrm>
          <a:prstGeom prst="roundRect">
            <a:avLst/>
          </a:prstGeom>
          <a:solidFill>
            <a:srgbClr val="E2EFFC"/>
          </a:solidFill>
          <a:ln w="12700">
            <a:solidFill>
              <a:srgbClr val="BED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596128"/>
            <a:ext cx="101498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0070C0"/>
                </a:solidFill>
                <a:latin typeface="Calibri" panose="020F0502020204030204"/>
              </a:rPr>
              <a:t>Limitation: the simulator is deterministic and atomic; real multi-node production behavior remains future work.</a:t>
            </a:r>
            <a:endParaRPr sz="1700" b="1">
              <a:solidFill>
                <a:srgbClr val="0070C0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23-09-2026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Review-II                                                        Department of CSE-2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r>
              <a:rPr sz="1100" b="0">
                <a:solidFill>
                  <a:srgbClr val="808080"/>
                </a:solidFill>
                <a:latin typeface="Calibri" panose="020F0502020204030204"/>
              </a:rPr>
              <a:t>12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14400" y="1389888"/>
            <a:ext cx="1036015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00000"/>
                </a:solidFill>
                <a:latin typeface="Calibri" panose="020F0502020204030204"/>
              </a:rPr>
              <a:t>THANK YOU</a:t>
            </a:r>
            <a:endParaRPr sz="3400" b="1">
              <a:solidFill>
                <a:srgbClr val="00000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28800" y="2395728"/>
            <a:ext cx="8531352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0070C0"/>
                </a:solidFill>
                <a:latin typeface="Calibri" panose="020F0502020204030204"/>
              </a:rPr>
              <a:t>NestedTune Guard</a:t>
            </a:r>
            <a:endParaRPr sz="2800" b="1">
              <a:solidFill>
                <a:srgbClr val="0070C0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80360" y="3675887"/>
            <a:ext cx="6428232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00B050"/>
                </a:solidFill>
                <a:latin typeface="Calibri" panose="020F0502020204030204"/>
              </a:rPr>
              <a:t>Questions &amp; Discussion</a:t>
            </a:r>
            <a:endParaRPr sz="2400" b="1">
              <a:solidFill>
                <a:srgbClr val="00B050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80360" y="4251960"/>
            <a:ext cx="642823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>
                <a:solidFill>
                  <a:srgbClr val="666666"/>
                </a:solidFill>
                <a:latin typeface="Calibri" panose="020F0502020204030204"/>
              </a:rPr>
              <a:t>Project ID CINT-11  |  Batch: [Batch]</a:t>
            </a:r>
            <a:endParaRPr sz="1900" b="0">
              <a:solidFill>
                <a:srgbClr val="666666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5614</Words>
  <Application>WPS Presentation</Application>
  <PresentationFormat>Custom</PresentationFormat>
  <Paragraphs>472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SimSun</vt:lpstr>
      <vt:lpstr>Wingdings</vt:lpstr>
      <vt:lpstr>Calibri</vt:lpstr>
      <vt:lpstr>Microsoft YaHei</vt:lpstr>
      <vt:lpstr>Noto Sans CJK SC</vt:lpstr>
      <vt:lpstr>Arial Unicode MS</vt:lpstr>
      <vt:lpstr>Calibri Light</vt:lpstr>
      <vt:lpstr>Calibri</vt:lpstr>
      <vt:lpstr>Office Theme</vt:lpstr>
      <vt:lpstr>Custom Design</vt:lpstr>
      <vt:lpstr>PowerPoint 演示文稿</vt:lpstr>
      <vt:lpstr>OUTLINE</vt:lpstr>
      <vt:lpstr>INTRODUCTION</vt:lpstr>
      <vt:lpstr>PROBLEM STATEMENT &amp; OBJECTIVES</vt:lpstr>
      <vt:lpstr>FUNCTIONAL &amp; NON-FUNCTIONAL REQUIREMENTS </vt:lpstr>
      <vt:lpstr>ALTERNATIVE SOLUTIONS &amp; TRADE-OFF ANALYSIS</vt:lpstr>
      <vt:lpstr>COMPLETE SYSTEM ARCHITECTURE</vt:lpstr>
      <vt:lpstr> DETAILED DESIGN &amp; DATA FLOW</vt:lpstr>
      <vt:lpstr>IMPLEMENTATION &amp; UNIT-LEVEL PROGRESS</vt:lpstr>
      <vt:lpstr>TESTING&amp; RESULTS  </vt:lpstr>
      <vt:lpstr>CONCLUSION&amp; FUTURE SCOPE 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FinOps Cloud-Cost Optimisation Dashboard — Review II</dc:title>
  <dc:creator>CLOUD-04 | Batch C2R-63</dc:creator>
  <dc:description>Built from REVIEW-II PPT Template and FinOps Review II report.</dc:description>
  <dc:subject>Capstone Review II Presentation</dc:subject>
  <cp:lastModifiedBy>nsaivighnesh</cp:lastModifiedBy>
  <cp:revision>44</cp:revision>
  <dcterms:created xsi:type="dcterms:W3CDTF">2026-09-22T16:35:00Z</dcterms:created>
  <dcterms:modified xsi:type="dcterms:W3CDTF">2026-09-22T16:35:00Z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