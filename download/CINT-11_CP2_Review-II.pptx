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258" r:id="rId4"/>
    <p:sldId id="322" r:id="rId5"/>
    <p:sldId id="323" r:id="rId6"/>
    <p:sldId id="329" r:id="rId7"/>
    <p:sldId id="266" r:id="rId8"/>
    <p:sldId id="330" r:id="rId9"/>
    <p:sldId id="331" r:id="rId10"/>
    <p:sldId id="280" r:id="rId11"/>
    <p:sldId id="333" r:id="rId12"/>
    <p:sldId id="334" r:id="rId13"/>
    <p:sldId id="336" r:id="rId14"/>
    <p:sldId id="33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06" autoAdjust="0"/>
    <p:restoredTop sz="95833"/>
  </p:normalViewPr>
  <p:slideViewPr>
    <p:cSldViewPr snapToGrid="0" snapToObjects="1">
      <p:cViewPr varScale="1">
        <p:scale>
          <a:sx n="72" d="100"/>
          <a:sy n="72" d="100"/>
        </p:scale>
        <p:origin x="-46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FIFO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Unresolved</c:v>
                </c:pt>
                <c:pt idx="2">
                  <c:v>Rejected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7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Greedy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Unresolved</c:v>
                </c:pt>
                <c:pt idx="2">
                  <c:v>Rejected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</c:v>
                </c:pt>
                <c:pt idx="1">
                  <c:v>5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Deadlock-aware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Unresolved</c:v>
                </c:pt>
                <c:pt idx="2">
                  <c:v>Rejected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</c:v>
                </c:pt>
                <c:pt idx="1">
                  <c:v>0</c:v>
                </c:pt>
                <c:pt idx="2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Calibri"/>
              </a:defRPr>
            </a:pPr>
          </a:p>
        </c:txPr>
        <c:crossAx val="-2068027336"/>
        <c:crosses val="autoZero"/>
        <c:majorUnit val="2.0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951666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21-09-2026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Review-II                                                        Department of CSE-2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23-09-2026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Review-II                                                        Department of CSE-2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1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228600"/>
            <a:ext cx="1081735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REVIEW-II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941832"/>
            <a:ext cx="10177272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070C0"/>
                </a:solidFill>
                <a:latin typeface="Calibri"/>
              </a:rPr>
              <a:t>NestedTune Guard: Deadlock-Aware Distributed Hyperparameter Tuning for Nested Trainers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176272"/>
            <a:ext cx="5330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Calibri"/>
              </a:rPr>
              <a:t>Project ID: CINT-11  |  Batch: CSE-2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166360"/>
            <a:ext cx="798271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C00000"/>
                </a:solidFill>
                <a:latin typeface="Calibri"/>
              </a:rPr>
              <a:t>KONERU LAKSHMAIAH EDUCATION FOUNDATION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816352"/>
            <a:ext cx="653796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2816352"/>
            <a:ext cx="64008" cy="19385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2944368"/>
            <a:ext cx="617220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1900" b="1">
                <a:solidFill>
                  <a:srgbClr val="0070C0"/>
                </a:solidFill>
                <a:latin typeface="Calibri"/>
              </a:rPr>
              <a:t>TEAM 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273552"/>
            <a:ext cx="1389888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1600" b="1">
                <a:solidFill>
                  <a:srgbClr val="0070C0"/>
                </a:solidFill>
                <a:latin typeface="Calibri"/>
              </a:rPr>
              <a:t>2300030455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3273552"/>
            <a:ext cx="3840480" cy="29260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Calibri"/>
              </a:rPr>
              <a:t>NEKKANTI SAI VIGHNESH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3273552"/>
            <a:ext cx="896112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/>
            <a:r>
              <a:rPr sz="1400" b="1">
                <a:solidFill>
                  <a:srgbClr val="00B050"/>
                </a:solidFill>
                <a:latin typeface="Calibri"/>
              </a:rPr>
              <a:t>Member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749039"/>
            <a:ext cx="1389888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1600" b="1">
                <a:solidFill>
                  <a:srgbClr val="0070C0"/>
                </a:solidFill>
                <a:latin typeface="Calibri"/>
              </a:rPr>
              <a:t>2300030062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3749039"/>
            <a:ext cx="3840480" cy="29260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Calibri"/>
              </a:rPr>
              <a:t>BAGADI PAVAN KUMAR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224528"/>
            <a:ext cx="1389888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1600" b="1">
                <a:solidFill>
                  <a:srgbClr val="0070C0"/>
                </a:solidFill>
                <a:latin typeface="Calibri"/>
              </a:rPr>
              <a:t>2300030983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4224528"/>
            <a:ext cx="3840480" cy="29260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Calibri"/>
              </a:rPr>
              <a:t>BHIMISETTY MAHESH ADITHYA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2816352"/>
            <a:ext cx="363931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2816352"/>
            <a:ext cx="64008" cy="19385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944368"/>
            <a:ext cx="3273552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1900" b="1">
                <a:solidFill>
                  <a:srgbClr val="00B050"/>
                </a:solidFill>
                <a:latin typeface="Calibri"/>
              </a:rPr>
              <a:t>PROJECT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346704"/>
            <a:ext cx="841248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1500" b="1">
                <a:solidFill>
                  <a:srgbClr val="5F5F5F"/>
                </a:solidFill>
                <a:latin typeface="Calibri"/>
              </a:rPr>
              <a:t>Guide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2248" y="3346704"/>
            <a:ext cx="1938528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Calibri"/>
              </a:rPr>
              <a:t>8199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803904"/>
            <a:ext cx="841248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1500" b="1">
                <a:solidFill>
                  <a:srgbClr val="5F5F5F"/>
                </a:solidFill>
                <a:latin typeface="Calibri"/>
              </a:rPr>
              <a:t>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2248" y="3730752"/>
            <a:ext cx="2139696" cy="65836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Calibri"/>
              </a:rPr>
              <a:t>Mr.Rambabu Kalathoti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998464" y="3749039"/>
            <a:ext cx="896112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/>
            <a:r>
              <a:rPr sz="1400" b="1">
                <a:solidFill>
                  <a:srgbClr val="00B050"/>
                </a:solidFill>
                <a:latin typeface="Calibri"/>
              </a:rPr>
              <a:t>Member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998464" y="4224528"/>
            <a:ext cx="896112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/>
            <a:r>
              <a:rPr sz="1400" b="1">
                <a:solidFill>
                  <a:srgbClr val="00B050"/>
                </a:solidFill>
                <a:latin typeface="Calibri"/>
              </a:rPr>
              <a:t>Member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78992" y="4700016"/>
            <a:ext cx="1389888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1600" b="1">
                <a:solidFill>
                  <a:srgbClr val="0070C0"/>
                </a:solidFill>
                <a:latin typeface="Calibri"/>
              </a:rPr>
              <a:t>2300031256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542032" y="4700016"/>
            <a:ext cx="3840480" cy="29260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Calibri"/>
              </a:rPr>
              <a:t>CHOPPARAPU JESWANTH VARUN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998464" y="4700016"/>
            <a:ext cx="896112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/>
            <a:r>
              <a:rPr sz="1400" b="1">
                <a:solidFill>
                  <a:srgbClr val="00B050"/>
                </a:solidFill>
                <a:latin typeface="Calibri"/>
              </a:rPr>
              <a:t>Member</a:t>
            </a:r>
          </a:p>
        </p:txBody>
      </p:sp>
    </p:spTree>
    <p:extLst>
      <p:ext uri="{BB962C8B-B14F-4D97-AF65-F5344CB8AC3E}">
        <p14:creationId xmlns:p14="http://schemas.microsoft.com/office/powerpoint/2010/main" xmlns="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anchor="ctr"/>
          <a:lstStyle/>
          <a:p>
            <a:pPr algn="ctr"/>
            <a:r>
              <a:rPr lang="en-US" b="1" dirty="0" sz="3000">
                <a:solidFill>
                  <a:srgbClr val="000000"/>
                </a:solidFill>
                <a:latin typeface="Calibri"/>
              </a:rPr>
              <a:t>OUTLINE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23-09-2026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Review-II                                                        Department of CSE-2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2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68680" y="1490472"/>
            <a:ext cx="4389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1" y="1490472"/>
            <a:ext cx="48006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Calibri"/>
              </a:rPr>
              <a:t>Introduction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99031" y="1984248"/>
            <a:ext cx="4590289" cy="0"/>
          </a:xfrm>
          <a:prstGeom prst="line">
            <a:avLst/>
          </a:prstGeom>
          <a:ln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2276856"/>
            <a:ext cx="4389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1" y="2276856"/>
            <a:ext cx="48006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Calibri"/>
              </a:rPr>
              <a:t>Problem Statement &amp; Objectives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99031" y="2770632"/>
            <a:ext cx="4590289" cy="0"/>
          </a:xfrm>
          <a:prstGeom prst="line">
            <a:avLst/>
          </a:prstGeom>
          <a:ln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3063239"/>
            <a:ext cx="4389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1" y="3063239"/>
            <a:ext cx="48006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Calibri"/>
              </a:rPr>
              <a:t>Requirements &amp; Acceptance Criteria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99031" y="3557015"/>
            <a:ext cx="4590289" cy="0"/>
          </a:xfrm>
          <a:prstGeom prst="line">
            <a:avLst/>
          </a:prstGeom>
          <a:ln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3849624"/>
            <a:ext cx="4389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1" y="3849624"/>
            <a:ext cx="48006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Calibri"/>
              </a:rPr>
              <a:t>Alternative Solutions &amp; Trade-off Analysis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99031" y="4343400"/>
            <a:ext cx="4590289" cy="0"/>
          </a:xfrm>
          <a:prstGeom prst="line">
            <a:avLst/>
          </a:prstGeom>
          <a:ln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" y="4636008"/>
            <a:ext cx="4389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1" y="4636008"/>
            <a:ext cx="48006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Calibri"/>
              </a:rPr>
              <a:t>Complete System Architecture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99031" y="5129784"/>
            <a:ext cx="4590289" cy="0"/>
          </a:xfrm>
          <a:prstGeom prst="line">
            <a:avLst/>
          </a:prstGeom>
          <a:ln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0" y="1490472"/>
            <a:ext cx="4389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490472"/>
            <a:ext cx="48006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Calibri"/>
              </a:rPr>
              <a:t>Detailed Design &amp; Data Flow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31152" y="1984248"/>
            <a:ext cx="4590288" cy="0"/>
          </a:xfrm>
          <a:prstGeom prst="line">
            <a:avLst/>
          </a:prstGeom>
          <a:ln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0" y="2276856"/>
            <a:ext cx="4389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2276856"/>
            <a:ext cx="48006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Calibri"/>
              </a:rPr>
              <a:t>Implementation &amp; Unit-Level Progress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31152" y="2770632"/>
            <a:ext cx="4590288" cy="0"/>
          </a:xfrm>
          <a:prstGeom prst="line">
            <a:avLst/>
          </a:prstGeom>
          <a:ln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0" y="3063239"/>
            <a:ext cx="4389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3063239"/>
            <a:ext cx="48006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Calibri"/>
              </a:rPr>
              <a:t>Testing &amp; Results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931152" y="3557015"/>
            <a:ext cx="4590288" cy="0"/>
          </a:xfrm>
          <a:prstGeom prst="line">
            <a:avLst/>
          </a:prstGeom>
          <a:ln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0" y="3849624"/>
            <a:ext cx="4389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3849624"/>
            <a:ext cx="48006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Calibri"/>
              </a:rPr>
              <a:t>Conclusion &amp; Future Scope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931152" y="4343400"/>
            <a:ext cx="4590288" cy="0"/>
          </a:xfrm>
          <a:prstGeom prst="line">
            <a:avLst/>
          </a:prstGeom>
          <a:ln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2623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anchor="ctr"/>
          <a:lstStyle/>
          <a:p>
            <a:pPr algn="ctr"/>
            <a:r>
              <a:rPr lang="en-US" b="1" dirty="0" sz="3000">
                <a:solidFill>
                  <a:srgbClr val="000000"/>
                </a:solidFill>
                <a:latin typeface="Calibri"/>
              </a:rPr>
              <a:t>INTRODUCTION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23-09-2026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Review-II                                                        Department of CSE-2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3</a:t>
            </a:r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77240" y="1481328"/>
            <a:ext cx="36576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81328"/>
            <a:ext cx="64008" cy="16642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627632"/>
            <a:ext cx="33101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70C0"/>
                </a:solidFill>
                <a:latin typeface="Calibri"/>
              </a:rPr>
              <a:t>WHY NESTED TUNING?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048256"/>
            <a:ext cx="3346704" cy="978408"/>
          </a:xfrm>
          <a:prstGeom prst="rect">
            <a:avLst/>
          </a:prstGeom>
          <a:noFill/>
        </p:spPr>
        <p:txBody>
          <a:bodyPr wrap="square" lIns="73152" rIns="27432" tIns="27432" bIns="0">
            <a:spAutoFit/>
          </a:bodyPr>
          <a:lstStyle/>
          <a:p>
            <a:pPr>
              <a:buChar char="•"/>
              <a:lnSpc>
                <a:spcPct val="100000"/>
              </a:lnSpc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Outer trial owns parent PG
Inner training requests child PG
Parent can hold resources child needs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83280"/>
            <a:ext cx="3657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383280"/>
            <a:ext cx="64008" cy="20116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529584"/>
            <a:ext cx="33101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B050"/>
                </a:solidFill>
                <a:latin typeface="Calibri"/>
              </a:rPr>
              <a:t>PROJECT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950208"/>
            <a:ext cx="3346704" cy="1325880"/>
          </a:xfrm>
          <a:prstGeom prst="rect">
            <a:avLst/>
          </a:prstGeom>
          <a:noFill/>
        </p:spPr>
        <p:txBody>
          <a:bodyPr wrap="square" lIns="73152" rIns="27432" tIns="27432" bIns="0">
            <a:spAutoFit/>
          </a:bodyPr>
          <a:lstStyle/>
          <a:p>
            <a:pPr>
              <a:buChar char="•"/>
              <a:lnSpc>
                <a:spcPct val="100000"/>
              </a:lnSpc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Model nested resource demand
Compare FIFO, Greedy, Deadlock-aware
Measure cycles and unresolved trials
Reproduce on Ray 2.10.0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572768"/>
            <a:ext cx="6172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Calibri"/>
              </a:rPr>
              <a:t>THE RESULT IS MEASURABLE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12848"/>
            <a:ext cx="1600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b="1">
                <a:solidFill>
                  <a:srgbClr val="C00000"/>
                </a:solidFill>
                <a:latin typeface="Calibri"/>
              </a:rPr>
              <a:t>4/4/1/3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31136"/>
            <a:ext cx="4297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Calibri"/>
              </a:rPr>
              <a:t>real-Ray resource accounting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218688"/>
            <a:ext cx="1600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b="1">
                <a:solidFill>
                  <a:srgbClr val="ED7D31"/>
                </a:solidFill>
                <a:latin typeface="Calibri"/>
              </a:rPr>
              <a:t>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236976"/>
            <a:ext cx="4297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Calibri"/>
              </a:rPr>
              <a:t>automated tests passed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224528"/>
            <a:ext cx="1600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b="1">
                <a:solidFill>
                  <a:srgbClr val="0070C0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242816"/>
            <a:ext cx="4297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Calibri"/>
              </a:rPr>
              <a:t>unresolved CP-2 deadlocks</a:t>
            </a:r>
          </a:p>
        </p:txBody>
      </p:sp>
    </p:spTree>
    <p:extLst>
      <p:ext uri="{BB962C8B-B14F-4D97-AF65-F5344CB8AC3E}">
        <p14:creationId xmlns:p14="http://schemas.microsoft.com/office/powerpoint/2010/main" xmlns="" val="271578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anchor="ctr"/>
          <a:lstStyle/>
          <a:p>
            <a:pPr algn="ctr"/>
            <a:r>
              <a:rPr lang="en-US" b="1" dirty="0" smtClean="0" sz="3000">
                <a:solidFill>
                  <a:srgbClr val="000000"/>
                </a:solidFill>
                <a:latin typeface="Calibri"/>
              </a:rPr>
              <a:t>PROBLEM STATEMENT &amp; OBJECTIVES</a:t>
            </a:r>
            <a:endParaRPr lang="en-US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23-09-2026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23522" cy="365125"/>
          </a:xfrm>
        </p:spPr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Review-II                                                        Department of CSE-2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4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777240" y="1481328"/>
            <a:ext cx="3749039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81328"/>
            <a:ext cx="64008" cy="44348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627632"/>
            <a:ext cx="34015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C00000"/>
                </a:solidFill>
                <a:latin typeface="Calibri"/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048256"/>
            <a:ext cx="3438144" cy="3749039"/>
          </a:xfrm>
          <a:prstGeom prst="rect">
            <a:avLst/>
          </a:prstGeom>
          <a:noFill/>
        </p:spPr>
        <p:txBody>
          <a:bodyPr wrap="square" lIns="73152" rIns="27432" tIns="27432" bIns="0">
            <a:spAutoFit/>
          </a:bodyPr>
          <a:lstStyle/>
          <a:p>
            <a:pPr>
              <a:buChar char="•"/>
              <a:lnSpc>
                <a:spcPct val="100000"/>
              </a:lnSpc>
              <a:spcAft>
                <a:spcPts val="5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Parent placement group can reserve the whole cluster
Nested child cannot be admitted although aggregate capacity looks sufficient
FIFO and Greedy are hierarchy-blind
Unbounded hangs are hard to compare or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1508760"/>
            <a:ext cx="60807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Calibri"/>
              </a:rPr>
              <a:t>Four measurable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2075688"/>
            <a:ext cx="5303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075688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0000"/>
                </a:solidFill>
                <a:latin typeface="Calibri"/>
              </a:rPr>
              <a:t>Model hierarchy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075688"/>
            <a:ext cx="29260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66666"/>
                </a:solidFill>
                <a:latin typeface="Calibri"/>
              </a:rPr>
              <a:t>Parent + child placement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2990088"/>
            <a:ext cx="5303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2990088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0000"/>
                </a:solidFill>
                <a:latin typeface="Calibri"/>
              </a:rPr>
              <a:t>Compare policies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2990088"/>
            <a:ext cx="29260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66666"/>
                </a:solidFill>
                <a:latin typeface="Calibri"/>
              </a:rPr>
              <a:t>FIFO vs Greedy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3904487"/>
            <a:ext cx="5303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3904487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0000"/>
                </a:solidFill>
                <a:latin typeface="Calibri"/>
              </a:rPr>
              <a:t>Prevent deadlocks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1" y="3904487"/>
            <a:ext cx="29260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66666"/>
                </a:solidFill>
                <a:latin typeface="Calibri"/>
              </a:rPr>
              <a:t>Reject / defer unsafe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9472" y="4818888"/>
            <a:ext cx="5303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6128" y="4818888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0000"/>
                </a:solidFill>
                <a:latin typeface="Calibri"/>
              </a:rPr>
              <a:t>Produce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4818888"/>
            <a:ext cx="29260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66666"/>
                </a:solidFill>
                <a:latin typeface="Calibri"/>
              </a:rPr>
              <a:t>30s bound + metrics + trace</a:t>
            </a:r>
          </a:p>
        </p:txBody>
      </p:sp>
    </p:spTree>
    <p:extLst>
      <p:ext uri="{BB962C8B-B14F-4D97-AF65-F5344CB8AC3E}">
        <p14:creationId xmlns:p14="http://schemas.microsoft.com/office/powerpoint/2010/main" xmlns="" val="1023711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b="1" dirty="0" smtClean="0" sz="3000">
                <a:solidFill>
                  <a:srgbClr val="000000"/>
                </a:solidFill>
                <a:latin typeface="Calibri"/>
              </a:rPr>
              <a:t>FUNCTIONAL &amp; NON-FUNCTIONAL REQUIREMENTS</a:t>
            </a:r>
            <a:r>
              <a:rPr lang="en-IN" b="1" dirty="0" smtClean="0" sz="3000">
                <a:solidFill>
                  <a:srgbClr val="000000"/>
                </a:solidFill>
                <a:latin typeface="Calibri"/>
              </a:rPr>
              <a:t/>
            </a:r>
            <a:br>
              <a:rPr lang="en-IN" b="1" dirty="0" smtClean="0"/>
            </a:br>
            <a:endParaRPr lang="en-US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23-09-2026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Review-II                                                        Department of CSE-2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5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5349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70C0"/>
                </a:solidFill>
                <a:latin typeface="Calibri"/>
              </a:rPr>
              <a:t>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640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70C0"/>
                </a:solidFill>
                <a:latin typeface="Calibri"/>
              </a:rPr>
              <a:t>FR-1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21488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Calibri"/>
              </a:rPr>
              <a:t>Validate workloads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1828800"/>
            <a:ext cx="22402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66666"/>
                </a:solidFill>
                <a:latin typeface="Calibri"/>
              </a:rPr>
              <a:t>Schema + 7 dev fixtures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42032"/>
            <a:ext cx="640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70C0"/>
                </a:solidFill>
                <a:latin typeface="Calibri"/>
              </a:rPr>
              <a:t>FR-2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42032"/>
            <a:ext cx="21488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Calibri"/>
              </a:rPr>
              <a:t>Simulate hierarchy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2542032"/>
            <a:ext cx="22402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66666"/>
                </a:solidFill>
                <a:latin typeface="Calibri"/>
              </a:rPr>
              <a:t>Atomic parent + child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255264"/>
            <a:ext cx="640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70C0"/>
                </a:solidFill>
                <a:latin typeface="Calibri"/>
              </a:rPr>
              <a:t>FR-3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255264"/>
            <a:ext cx="21488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Calibri"/>
              </a:rPr>
              <a:t>Compare policies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3255264"/>
            <a:ext cx="22402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66666"/>
                </a:solidFill>
                <a:latin typeface="Calibri"/>
              </a:rPr>
              <a:t>FIFO / Greedy / CP-2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68496"/>
            <a:ext cx="640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70C0"/>
                </a:solidFill>
                <a:latin typeface="Calibri"/>
              </a:rPr>
              <a:t>FR-4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968496"/>
            <a:ext cx="21488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Calibri"/>
              </a:rPr>
              <a:t>Prevent unsafe admission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5032" y="3968496"/>
            <a:ext cx="22402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66666"/>
                </a:solidFill>
                <a:latin typeface="Calibri"/>
              </a:rPr>
              <a:t>Reject / defer / 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81728"/>
            <a:ext cx="640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70C0"/>
                </a:solidFill>
                <a:latin typeface="Calibri"/>
              </a:rPr>
              <a:t>FR-5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681728"/>
            <a:ext cx="21488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Calibri"/>
              </a:rPr>
              <a:t>Expose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5032" y="4681728"/>
            <a:ext cx="22402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66666"/>
                </a:solidFill>
                <a:latin typeface="Calibri"/>
              </a:rPr>
              <a:t>API + dashboard +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41732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B050"/>
                </a:solidFill>
                <a:latin typeface="Calibri"/>
              </a:rPr>
              <a:t>NON-FUNCTIONAL REQUIREMENTS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828800"/>
            <a:ext cx="5074920" cy="640080"/>
          </a:xfrm>
          <a:prstGeom prst="roundRect">
            <a:avLst/>
          </a:prstGeom>
          <a:solidFill>
            <a:srgbClr val="E2F3EA"/>
          </a:solidFill>
          <a:ln w="12700">
            <a:solidFill>
              <a:srgbClr val="C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1975104"/>
            <a:ext cx="74980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B050"/>
                </a:solidFill>
                <a:latin typeface="Calibri"/>
              </a:rPr>
              <a:t>NFR-1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1938528"/>
            <a:ext cx="388620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000000"/>
                </a:solidFill>
                <a:latin typeface="Calibri"/>
              </a:rPr>
              <a:t>Deterministic output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2688336"/>
            <a:ext cx="5074920" cy="640080"/>
          </a:xfrm>
          <a:prstGeom prst="roundRect">
            <a:avLst/>
          </a:prstGeom>
          <a:solidFill>
            <a:srgbClr val="E2F3EA"/>
          </a:solidFill>
          <a:ln w="12700">
            <a:solidFill>
              <a:srgbClr val="C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2834640"/>
            <a:ext cx="74980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B050"/>
                </a:solidFill>
                <a:latin typeface="Calibri"/>
              </a:rPr>
              <a:t>NFR-2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798064"/>
            <a:ext cx="388620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000000"/>
                </a:solidFill>
                <a:latin typeface="Calibri"/>
              </a:rPr>
              <a:t>30-second bounded execution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547872"/>
            <a:ext cx="5074920" cy="640080"/>
          </a:xfrm>
          <a:prstGeom prst="roundRect">
            <a:avLst/>
          </a:prstGeom>
          <a:solidFill>
            <a:srgbClr val="E2F3EA"/>
          </a:solidFill>
          <a:ln w="12700">
            <a:solidFill>
              <a:srgbClr val="C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694176"/>
            <a:ext cx="74980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B050"/>
                </a:solidFill>
                <a:latin typeface="Calibri"/>
              </a:rPr>
              <a:t>NFR-3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657600"/>
            <a:ext cx="388620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000000"/>
                </a:solidFill>
                <a:latin typeface="Calibri"/>
              </a:rPr>
              <a:t>Docker + pinned Ray 2.10.0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407408"/>
            <a:ext cx="5074920" cy="640080"/>
          </a:xfrm>
          <a:prstGeom prst="roundRect">
            <a:avLst/>
          </a:prstGeom>
          <a:solidFill>
            <a:srgbClr val="E2F3EA"/>
          </a:solidFill>
          <a:ln w="12700">
            <a:solidFill>
              <a:srgbClr val="C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553712"/>
            <a:ext cx="74980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B050"/>
                </a:solidFill>
                <a:latin typeface="Calibri"/>
              </a:rPr>
              <a:t>NFR-4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517136"/>
            <a:ext cx="388620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000000"/>
                </a:solidFill>
                <a:latin typeface="Calibri"/>
              </a:rPr>
              <a:t>CI validates; no prod claim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431536"/>
            <a:ext cx="4983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66666"/>
                </a:solidFill>
                <a:latin typeface="Calibri"/>
              </a:rPr>
              <a:t>Acceptance: 70 tests + oracle + frozen CP-1 + CP-2 result</a:t>
            </a:r>
          </a:p>
        </p:txBody>
      </p:sp>
    </p:spTree>
    <p:extLst>
      <p:ext uri="{BB962C8B-B14F-4D97-AF65-F5344CB8AC3E}">
        <p14:creationId xmlns:p14="http://schemas.microsoft.com/office/powerpoint/2010/main" xmlns="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b="1" dirty="0" smtClean="0" sz="3000">
                <a:solidFill>
                  <a:srgbClr val="000000"/>
                </a:solidFill>
                <a:latin typeface="Calibri"/>
              </a:rPr>
              <a:t>ALTERNATIVE SOLUTIONS &amp; TRADE-OFF ANALYSIS</a:t>
            </a:r>
            <a:endParaRPr lang="en-US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23-09-2026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Review-II                                                        Department of CSE-2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6</a:t>
            </a:r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10652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572768"/>
            <a:ext cx="22402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66666"/>
                </a:solidFill>
                <a:latin typeface="Calibri"/>
              </a:rPr>
              <a:t>BASELINE 1 · FIFO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563624"/>
            <a:ext cx="24231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FIFO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1545336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Calibri"/>
              </a:rPr>
              <a:t>Simple arrival-order 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029968"/>
            <a:ext cx="521208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66666"/>
                </a:solidFill>
                <a:latin typeface="Calibri"/>
              </a:rPr>
              <a:t>Head-of-line blocking; hierarchy-blind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907791"/>
            <a:ext cx="10652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063239"/>
            <a:ext cx="22402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66666"/>
                </a:solidFill>
                <a:latin typeface="Calibri"/>
              </a:rPr>
              <a:t>BASELINE 2 · GREEDY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054096"/>
            <a:ext cx="24231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Greedy / backfilling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035808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Calibri"/>
              </a:rPr>
              <a:t>Skips blocked head; improves throughput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520439"/>
            <a:ext cx="521208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66666"/>
                </a:solidFill>
                <a:latin typeface="Calibri"/>
              </a:rPr>
              <a:t>Still admits unsafe parent-only fits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98264"/>
            <a:ext cx="10652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553712"/>
            <a:ext cx="22402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66666"/>
                </a:solidFill>
                <a:latin typeface="Calibri"/>
              </a:rPr>
              <a:t>CP-2 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544568"/>
            <a:ext cx="24231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Deadlock-aware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4526279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Calibri"/>
              </a:rPr>
              <a:t>Checks parent + child before admission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5010912"/>
            <a:ext cx="521208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66666"/>
                </a:solidFill>
                <a:latin typeface="Calibri"/>
              </a:rPr>
              <a:t>Rejects infeasible; defers unsafe; explains why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925312"/>
            <a:ext cx="10424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Calibri"/>
              </a:rPr>
              <a:t>Research basis: Ray [1] • Tune [2] • DRF [3] • deadlock detection [4] • Hyperband/ASHA [5][6]</a:t>
            </a:r>
          </a:p>
        </p:txBody>
      </p:sp>
    </p:spTree>
    <p:extLst>
      <p:ext uri="{BB962C8B-B14F-4D97-AF65-F5344CB8AC3E}">
        <p14:creationId xmlns:p14="http://schemas.microsoft.com/office/powerpoint/2010/main" xmlns="" val="1932801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anchor="ctr"/>
          <a:lstStyle/>
          <a:p>
            <a:pPr marL="514350" indent="-514350" algn="ctr"/>
            <a:r>
              <a:rPr lang="en-US" b="1" dirty="0" smtClean="0" sz="3000">
                <a:solidFill>
                  <a:srgbClr val="000000"/>
                </a:solidFill>
                <a:latin typeface="Calibri"/>
              </a:rPr>
              <a:t>COMPLETE SYSTEM ARCHITECTURE</a:t>
            </a:r>
            <a:endParaRPr lang="en-US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23-09-2026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Review-II                                                        Department of CSE-2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7</a:t>
            </a:r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58368" y="2057400"/>
            <a:ext cx="1609344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49424"/>
            <a:ext cx="142646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97480"/>
            <a:ext cx="138988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Calibri"/>
              </a:rPr>
              <a:t>JSON fixtures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410712"/>
            <a:ext cx="1353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66666"/>
                </a:solidFill>
                <a:latin typeface="Calibri"/>
              </a:rPr>
              <a:t>Cluster + trials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6000" y="3127248"/>
            <a:ext cx="219456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42032" y="2057400"/>
            <a:ext cx="1609344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2249424"/>
            <a:ext cx="142646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697480"/>
            <a:ext cx="138988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Calibri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3410712"/>
            <a:ext cx="1353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66666"/>
                </a:solidFill>
                <a:latin typeface="Calibri"/>
              </a:rPr>
              <a:t>Schema checks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69664" y="3127248"/>
            <a:ext cx="219456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25696" y="2057400"/>
            <a:ext cx="1609344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2249424"/>
            <a:ext cx="142646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2697480"/>
            <a:ext cx="138988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Calibri"/>
              </a:rPr>
              <a:t>Simulator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410712"/>
            <a:ext cx="1353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66666"/>
                </a:solidFill>
                <a:latin typeface="Calibri"/>
              </a:rPr>
              <a:t>0.1s ticks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53328" y="3127248"/>
            <a:ext cx="219455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9359" y="2057400"/>
            <a:ext cx="160934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799" y="2249424"/>
            <a:ext cx="142646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697480"/>
            <a:ext cx="138988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Calibri"/>
              </a:rPr>
              <a:t>Policy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5" y="3410712"/>
            <a:ext cx="1353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66666"/>
                </a:solidFill>
                <a:latin typeface="Calibri"/>
              </a:rPr>
              <a:t>FIFO • Greedy • CP-2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36992" y="3127248"/>
            <a:ext cx="219456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193024" y="2057400"/>
            <a:ext cx="1609344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2249424"/>
            <a:ext cx="142646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2697480"/>
            <a:ext cx="138988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Calibri"/>
              </a:rPr>
              <a:t>Telemetry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410712"/>
            <a:ext cx="1353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66666"/>
                </a:solidFill>
                <a:latin typeface="Calibri"/>
              </a:rPr>
              <a:t>Cycles + stranding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20656" y="3127248"/>
            <a:ext cx="219456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076688" y="2057400"/>
            <a:ext cx="1609344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68128" y="2249424"/>
            <a:ext cx="142646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6416" y="2697480"/>
            <a:ext cx="138988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Calibri"/>
              </a:rPr>
              <a:t>API + UI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04704" y="3410712"/>
            <a:ext cx="1353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66666"/>
                </a:solidFill>
                <a:latin typeface="Calibri"/>
              </a:rPr>
              <a:t>FastAPI + Next.js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736592"/>
            <a:ext cx="999439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Calibri"/>
              </a:rPr>
              <a:t>Frozen CP-1 baseline → CP-2 controller →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5321808"/>
            <a:ext cx="8348472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66666"/>
                </a:solidFill>
                <a:latin typeface="Calibri"/>
              </a:rPr>
              <a:t>Python • FastAPI • Next.js • Docker • K8s • Helm • Ray 2.10</a:t>
            </a:r>
          </a:p>
        </p:txBody>
      </p:sp>
    </p:spTree>
    <p:extLst>
      <p:ext uri="{BB962C8B-B14F-4D97-AF65-F5344CB8AC3E}">
        <p14:creationId xmlns:p14="http://schemas.microsoft.com/office/powerpoint/2010/main" xmlns="" val="227084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1" y="365125"/>
            <a:ext cx="10799521" cy="1128009"/>
          </a:xfrm>
        </p:spPr>
        <p:txBody>
          <a:bodyPr anchor="ctr">
            <a:normAutofit/>
          </a:bodyPr>
          <a:lstStyle/>
          <a:p>
            <a:pPr marL="514350" indent="-514350" algn="ctr"/>
            <a:r>
              <a:rPr lang="en-IN" b="1" dirty="0" smtClean="0" sz="3000">
                <a:solidFill>
                  <a:srgbClr val="000000"/>
                </a:solidFill>
                <a:latin typeface="Calibri"/>
              </a:rPr>
              <a:t> </a:t>
            </a:r>
            <a:r>
              <a:rPr lang="en-US" b="1" dirty="0" smtClean="0" sz="3000">
                <a:solidFill>
                  <a:srgbClr val="000000"/>
                </a:solidFill>
                <a:latin typeface="Calibri"/>
              </a:rPr>
              <a:t>DETAILED DESIGN &amp; DATA FLOW</a:t>
            </a:r>
            <a:endParaRPr lang="en-US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23-09-2026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Review-II                                                        Department of CSE-2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8</a:t>
            </a:r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3337560" cy="35478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64792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85416"/>
            <a:ext cx="2971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Workload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770632"/>
            <a:ext cx="2743200" cy="1965960"/>
          </a:xfrm>
          <a:prstGeom prst="rect">
            <a:avLst/>
          </a:prstGeom>
          <a:noFill/>
        </p:spPr>
        <p:txBody>
          <a:bodyPr wrap="square" lIns="73152" rIns="27432" tIns="27432" bIns="0">
            <a:spAutoFit/>
          </a:bodyPr>
          <a:lstStyle/>
          <a:p>
            <a:pPr>
              <a:buChar char="•"/>
              <a:lnSpc>
                <a:spcPct val="100000"/>
              </a:lnSpc>
              <a:spcAft>
                <a:spcPts val="5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Capacity | arrival | duration | parent/child bundles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42232" y="3310128"/>
            <a:ext cx="310895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53712" y="1554480"/>
            <a:ext cx="3337560" cy="35478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764792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185416"/>
            <a:ext cx="2971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Simulation tick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770632"/>
            <a:ext cx="2743200" cy="1965960"/>
          </a:xfrm>
          <a:prstGeom prst="rect">
            <a:avLst/>
          </a:prstGeom>
          <a:noFill/>
        </p:spPr>
        <p:txBody>
          <a:bodyPr wrap="square" lIns="73152" rIns="27432" tIns="27432" bIns="0">
            <a:spAutoFit/>
          </a:bodyPr>
          <a:lstStyle/>
          <a:p>
            <a:pPr>
              <a:buChar char="•"/>
              <a:lnSpc>
                <a:spcPct val="100000"/>
              </a:lnSpc>
              <a:spcAft>
                <a:spcPts val="5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Policy decides → parent admit → child fit → state/event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18704" y="3310128"/>
            <a:ext cx="310896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30183" y="1554480"/>
            <a:ext cx="3337560" cy="35478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3" y="1764792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0C0"/>
                </a:solidFill>
                <a:latin typeface="Calibri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3" y="2185416"/>
            <a:ext cx="2971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Evidence + interfaces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2770632"/>
            <a:ext cx="2743200" cy="1965960"/>
          </a:xfrm>
          <a:prstGeom prst="rect">
            <a:avLst/>
          </a:prstGeom>
          <a:noFill/>
        </p:spPr>
        <p:txBody>
          <a:bodyPr wrap="square" lIns="73152" rIns="27432" tIns="27432" bIns="0">
            <a:spAutoFit/>
          </a:bodyPr>
          <a:lstStyle/>
          <a:p>
            <a:pPr>
              <a:buChar char="•"/>
              <a:lnSpc>
                <a:spcPct val="100000"/>
              </a:lnSpc>
              <a:spcAft>
                <a:spcPts val="5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JSON/CSV/PNG | /health /scenarios /simulate /benchmark /validate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440680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0000"/>
                </a:solidFill>
                <a:latin typeface="Calibri"/>
              </a:rPr>
              <a:t>WAITING_CHILD → observer self-cycle → CP-2 reject/defer → bounded result</a:t>
            </a:r>
          </a:p>
        </p:txBody>
      </p:sp>
    </p:spTree>
    <p:extLst>
      <p:ext uri="{BB962C8B-B14F-4D97-AF65-F5344CB8AC3E}">
        <p14:creationId xmlns:p14="http://schemas.microsoft.com/office/powerpoint/2010/main" xmlns="" val="345523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514350" indent="-514350" algn="ctr"/>
            <a:r>
              <a:rPr lang="en-US" b="1" dirty="0" smtClean="0" sz="3000">
                <a:solidFill>
                  <a:srgbClr val="000000"/>
                </a:solidFill>
                <a:latin typeface="Calibri"/>
              </a:rPr>
              <a:t>IMPLEMENTATION &amp; UNIT-LEVEL PROGRESS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23-09-2026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Review-II                                                        Department of CSE-2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9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41248" y="1389888"/>
            <a:ext cx="2926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70C0"/>
                </a:solidFill>
                <a:latin typeface="Calibri"/>
              </a:rPr>
              <a:t>10 review deliverables implemented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481328"/>
            <a:ext cx="7269480" cy="25603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86200" y="1481328"/>
            <a:ext cx="4361688" cy="256032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029968"/>
            <a:ext cx="3520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Calibri"/>
              </a:rPr>
              <a:t>Schema + fixtures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17136" y="2011680"/>
            <a:ext cx="1234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084832"/>
            <a:ext cx="11612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B050"/>
                </a:solidFill>
                <a:latin typeface="Calibri"/>
              </a:rPr>
              <a:t>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743200"/>
            <a:ext cx="3520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Calibri"/>
              </a:rPr>
              <a:t>Simulator + telemetry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2724912"/>
            <a:ext cx="1234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798064"/>
            <a:ext cx="11612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B050"/>
                </a:solidFill>
                <a:latin typeface="Calibri"/>
              </a:rPr>
              <a:t>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456432"/>
            <a:ext cx="3520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Calibri"/>
              </a:rPr>
              <a:t>FIFO / Greedy baselines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17136" y="3438144"/>
            <a:ext cx="1234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511296"/>
            <a:ext cx="11612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B050"/>
                </a:solidFill>
                <a:latin typeface="Calibri"/>
              </a:rPr>
              <a:t>Verified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169664"/>
            <a:ext cx="3520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Calibri"/>
              </a:rPr>
              <a:t>Deadlock-aware controller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17136" y="4151376"/>
            <a:ext cx="1234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4224528"/>
            <a:ext cx="11612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B050"/>
                </a:solidFill>
                <a:latin typeface="Calibri"/>
              </a:rPr>
              <a:t>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882896"/>
            <a:ext cx="3520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Calibri"/>
              </a:rPr>
              <a:t>Oracle + deterministic gate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17136" y="4864608"/>
            <a:ext cx="1234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4937759"/>
            <a:ext cx="11612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B050"/>
                </a:solidFill>
                <a:latin typeface="Calibri"/>
              </a:rPr>
              <a:t>70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029968"/>
            <a:ext cx="3520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Calibri"/>
              </a:rPr>
              <a:t>FastAPI + advisor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03536" y="2011680"/>
            <a:ext cx="1234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0112" y="2084832"/>
            <a:ext cx="11612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B050"/>
                </a:solidFill>
                <a:latin typeface="Calibri"/>
              </a:rPr>
              <a:t>Verified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2743200"/>
            <a:ext cx="3520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Calibri"/>
              </a:rPr>
              <a:t>Next.js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03536" y="2724912"/>
            <a:ext cx="1234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0112" y="2798064"/>
            <a:ext cx="11612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D7D31"/>
                </a:solidFill>
                <a:latin typeface="Calibri"/>
              </a:rPr>
              <a:t>Built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456432"/>
            <a:ext cx="3520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Calibri"/>
              </a:rPr>
              <a:t>Ray 2.10 Docker repro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03536" y="3438144"/>
            <a:ext cx="1234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0112" y="3511296"/>
            <a:ext cx="11612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D7D31"/>
                </a:solidFill>
                <a:latin typeface="Calibri"/>
              </a:rPr>
              <a:t>Verified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4169664"/>
            <a:ext cx="3520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Calibri"/>
              </a:rPr>
              <a:t>K8s + Helm packaging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03536" y="4151376"/>
            <a:ext cx="1234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40112" y="4224528"/>
            <a:ext cx="11612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D7D31"/>
                </a:solidFill>
                <a:latin typeface="Calibri"/>
              </a:rPr>
              <a:t>CI 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882896"/>
            <a:ext cx="3520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Calibri"/>
              </a:rPr>
              <a:t>Viva metadata / literature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03536" y="4864608"/>
            <a:ext cx="1234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40112" y="4937759"/>
            <a:ext cx="11612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66666"/>
                </a:solidFill>
                <a:latin typeface="Calibri"/>
              </a:rPr>
              <a:t>Pending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797296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Calibri"/>
              </a:rPr>
              <a:t>Next critical path: rehearse the viva, fill names/guide, read the cited papers, and choose a venue.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b="1" dirty="0" smtClean="0" sz="3000">
                <a:solidFill>
                  <a:srgbClr val="000000"/>
                </a:solidFill>
                <a:latin typeface="Calibri"/>
              </a:rPr>
              <a:t>TESTING&amp; RESULTS 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23-09-2026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Review-II                                                        Department of CSE-2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10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1335024"/>
            <a:ext cx="2514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070C0"/>
                </a:solidFill>
                <a:latin typeface="Calibri"/>
              </a:rPr>
              <a:t>5/12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2514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Calibri"/>
              </a:rPr>
              <a:t>FIFO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75688"/>
            <a:ext cx="25146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  <a:latin typeface="Calibri"/>
              </a:rPr>
              <a:t>7 unresolved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335024"/>
            <a:ext cx="2514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070C0"/>
                </a:solidFill>
                <a:latin typeface="Calibri"/>
              </a:rPr>
              <a:t>7/12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792224"/>
            <a:ext cx="2514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Calibri"/>
              </a:rPr>
              <a:t>Greedy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075688"/>
            <a:ext cx="25146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  <a:latin typeface="Calibri"/>
              </a:rPr>
              <a:t>5 unresolved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1335024"/>
            <a:ext cx="2514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070C0"/>
                </a:solidFill>
                <a:latin typeface="Calibri"/>
              </a:rPr>
              <a:t>7/12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1792224"/>
            <a:ext cx="2514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Calibri"/>
              </a:rPr>
              <a:t>CP-2 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075688"/>
            <a:ext cx="25146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  <a:latin typeface="Calibri"/>
              </a:rPr>
              <a:t>0 unresolved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2016" y="1335024"/>
            <a:ext cx="2514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0B050"/>
                </a:solidFill>
                <a:latin typeface="Calibri"/>
              </a:rPr>
              <a:t>70/70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6" y="1792224"/>
            <a:ext cx="2514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Calibri"/>
              </a:rPr>
              <a:t>pytest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6" y="2075688"/>
            <a:ext cx="25146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  <a:latin typeface="Calibri"/>
              </a:rPr>
              <a:t>14/14 oracle + gate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777240" y="2578608"/>
          <a:ext cx="6492240" cy="29992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60120" y="5422392"/>
            <a:ext cx="6126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66666"/>
                </a:solidFill>
                <a:latin typeface="Calibri"/>
              </a:rPr>
              <a:t>CP-2 policy comparison (counts across 12 trials)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2578608"/>
            <a:ext cx="3822191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2578608"/>
            <a:ext cx="64008" cy="29992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2724912"/>
            <a:ext cx="34747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B050"/>
                </a:solidFill>
                <a:latin typeface="Calibri"/>
              </a:rPr>
              <a:t>REAL-RAY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3" y="3145536"/>
            <a:ext cx="3511296" cy="2313432"/>
          </a:xfrm>
          <a:prstGeom prst="rect">
            <a:avLst/>
          </a:prstGeom>
          <a:noFill/>
        </p:spPr>
        <p:txBody>
          <a:bodyPr wrap="square" lIns="73152" rIns="27432" tIns="27432" bIns="0">
            <a:spAutoFit/>
          </a:bodyPr>
          <a:lstStyle/>
          <a:p>
            <a:pPr>
              <a:buChar char="•"/>
              <a:lnSpc>
                <a:spcPct val="10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Ray 2.10.0: child PG PENDING for 91.8s | 4 total / 4 reserved / 1 useful / 3 stranded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b="1" dirty="0" smtClean="0" sz="3000">
                <a:solidFill>
                  <a:srgbClr val="000000"/>
                </a:solidFill>
                <a:latin typeface="Calibri"/>
              </a:rPr>
              <a:t>CONCLUSION&amp; FUTURE SCOPE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23-09-2026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Review-II                                                        Department of CSE-2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11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5257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70C0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10512"/>
            <a:ext cx="5010912" cy="3246120"/>
          </a:xfrm>
          <a:prstGeom prst="rect">
            <a:avLst/>
          </a:prstGeom>
          <a:noFill/>
        </p:spPr>
        <p:txBody>
          <a:bodyPr wrap="square" lIns="73152" rIns="27432" tIns="27432" bIns="0">
            <a:spAutoFit/>
          </a:bodyPr>
          <a:lstStyle/>
          <a:p>
            <a:pPr>
              <a:buChar char="•"/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CP-1 establishes FIFO and Greedy baselines.
CP-2 checks parent + child before admission.
Unresolved cases become explicit rejections: 7/5 → 0 unresolved.
Validated by simulator evidence and a Ray 2.10.0 reproduction.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371600"/>
            <a:ext cx="5257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B050"/>
                </a:solidFill>
                <a:latin typeface="Calibri"/>
              </a:rPr>
              <a:t>FUTURE SCOPE / COMPLETION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828800"/>
            <a:ext cx="91440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B050"/>
                </a:solidFill>
                <a:latin typeface="Calibri"/>
              </a:rPr>
              <a:t>W1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828800"/>
            <a:ext cx="3886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000000"/>
                </a:solidFill>
                <a:latin typeface="Calibri"/>
              </a:rPr>
              <a:t>Read papers + literature 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29400" y="2212848"/>
            <a:ext cx="0" cy="338328"/>
          </a:xfrm>
          <a:prstGeom prst="line">
            <a:avLst/>
          </a:prstGeom>
          <a:ln w="25400">
            <a:solidFill>
              <a:srgbClr val="BE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72200" y="2523744"/>
            <a:ext cx="91440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B050"/>
                </a:solidFill>
                <a:latin typeface="Calibri"/>
              </a:rPr>
              <a:t>W2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523744"/>
            <a:ext cx="3886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000000"/>
                </a:solidFill>
                <a:latin typeface="Calibri"/>
              </a:rPr>
              <a:t>Fill team/guide + rehearse demo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29400" y="2907791"/>
            <a:ext cx="0" cy="338329"/>
          </a:xfrm>
          <a:prstGeom prst="line">
            <a:avLst/>
          </a:prstGeom>
          <a:ln w="25400">
            <a:solidFill>
              <a:srgbClr val="BE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72200" y="3218688"/>
            <a:ext cx="91440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B050"/>
                </a:solidFill>
                <a:latin typeface="Calibri"/>
              </a:rPr>
              <a:t>W3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218688"/>
            <a:ext cx="3886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000000"/>
                </a:solidFill>
                <a:latin typeface="Calibri"/>
              </a:rPr>
              <a:t>Test newer Ray / multi-node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29400" y="3602736"/>
            <a:ext cx="0" cy="338328"/>
          </a:xfrm>
          <a:prstGeom prst="line">
            <a:avLst/>
          </a:prstGeom>
          <a:ln w="25400">
            <a:solidFill>
              <a:srgbClr val="BE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72200" y="3913632"/>
            <a:ext cx="91440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B050"/>
                </a:solidFill>
                <a:latin typeface="Calibri"/>
              </a:rPr>
              <a:t>W4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913632"/>
            <a:ext cx="3886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000000"/>
                </a:solidFill>
                <a:latin typeface="Calibri"/>
              </a:rPr>
              <a:t>Add traces and workload diversity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29400" y="4297680"/>
            <a:ext cx="0" cy="338328"/>
          </a:xfrm>
          <a:prstGeom prst="line">
            <a:avLst/>
          </a:prstGeom>
          <a:ln w="25400">
            <a:solidFill>
              <a:srgbClr val="BE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72200" y="4608576"/>
            <a:ext cx="91440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B050"/>
                </a:solidFill>
                <a:latin typeface="Calibri"/>
              </a:rPr>
              <a:t>W5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608576"/>
            <a:ext cx="3886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000000"/>
                </a:solidFill>
                <a:latin typeface="Calibri"/>
              </a:rPr>
              <a:t>Submit preprint or workshop paper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486400"/>
            <a:ext cx="10469880" cy="457200"/>
          </a:xfrm>
          <a:prstGeom prst="roundRect">
            <a:avLst/>
          </a:prstGeom>
          <a:solidFill>
            <a:srgbClr val="E2EFFC"/>
          </a:solidFill>
          <a:ln w="12700">
            <a:solidFill>
              <a:srgbClr val="BE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596128"/>
            <a:ext cx="101498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070C0"/>
                </a:solidFill>
                <a:latin typeface="Calibri"/>
              </a:rPr>
              <a:t>Limitation: the simulator is deterministic and atomic; real multi-node production behavior remains future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23-09-2026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Review-II                                                        Department of CSE-2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12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14400" y="1389888"/>
            <a:ext cx="1036015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000000"/>
                </a:solidFill>
                <a:latin typeface="Calibri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95728"/>
            <a:ext cx="8531352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070C0"/>
                </a:solidFill>
                <a:latin typeface="Calibri"/>
              </a:rPr>
              <a:t>NestedTune Guard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675887"/>
            <a:ext cx="642823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0B050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251960"/>
            <a:ext cx="642823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>
                <a:solidFill>
                  <a:srgbClr val="666666"/>
                </a:solidFill>
                <a:latin typeface="Calibri"/>
              </a:rPr>
              <a:t>Project ID CINT-11  |  Batch: CSE-2</a:t>
            </a:r>
          </a:p>
        </p:txBody>
      </p:sp>
    </p:spTree>
    <p:extLst>
      <p:ext uri="{BB962C8B-B14F-4D97-AF65-F5344CB8AC3E}">
        <p14:creationId xmlns:p14="http://schemas.microsoft.com/office/powerpoint/2010/main" xmlns="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3009</TotalTime>
  <Words>541</Words>
  <Application>Microsoft Office PowerPoint</Application>
  <PresentationFormat>Custom</PresentationFormat>
  <Paragraphs>129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Office Theme</vt:lpstr>
      <vt:lpstr>Custom Design</vt:lpstr>
      <vt:lpstr>INSTRUCTIONS</vt:lpstr>
      <vt:lpstr>REVIEW-II  Title of the Project</vt:lpstr>
      <vt:lpstr>OUTLINE</vt:lpstr>
      <vt:lpstr>INTRODUCTION</vt:lpstr>
      <vt:lpstr>PROBLEM STATEMENT &amp; OBJECTIVES</vt:lpstr>
      <vt:lpstr>FUNCTIONAL &amp; NON-FUNCTIONAL REQUIREMENTS </vt:lpstr>
      <vt:lpstr>ALTERNATIVE SOLUTIONS &amp; TRADE-OFF ANALYSIS</vt:lpstr>
      <vt:lpstr>COMPLETE SYSTEM ARCHITECTURE</vt:lpstr>
      <vt:lpstr> DETAILED DESIGN &amp; DATA FLOW</vt:lpstr>
      <vt:lpstr>IMPLEMENTATION &amp; UNIT-LEVEL PROGRESS</vt:lpstr>
      <vt:lpstr>TESTING&amp; RESULTS  </vt:lpstr>
      <vt:lpstr>CONCLUSION&amp; FUTURE SCOPE 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FinOps Cloud-Cost Optimisation Dashboard — Review II</dc:title>
  <dc:creator>CLOUD-04 | Batch C2R-63</dc:creator>
  <cp:lastModifiedBy>hp</cp:lastModifiedBy>
  <cp:revision>43</cp:revision>
  <dcterms:created xsi:type="dcterms:W3CDTF">2022-05-20T10:20:31Z</dcterms:created>
  <dcterms:modified xsi:type="dcterms:W3CDTF">2026-09-21T04:08:50Z</dcterms:modified>
  <dc:subject>Capstone Review II Presentation</dc:subject>
  <dc:description>Built from REVIEW-II PPT Template and FinOps Review II report.</dc:description>
</cp:coreProperties>
</file>